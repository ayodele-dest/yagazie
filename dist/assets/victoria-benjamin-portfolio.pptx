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3" d="100"/>
          <a:sy n="103" d="100"/>
        </p:scale>
        <p:origin x="79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Rectangle 2"/>
          <p:cNvSpPr/>
          <p:nvPr/>
        </p:nvSpPr>
        <p:spPr>
          <a:xfrm>
            <a:off x="8001000" y="50292"/>
            <a:ext cx="4187952" cy="6803136"/>
          </a:xfrm>
          <a:prstGeom prst="rect">
            <a:avLst/>
          </a:prstGeom>
          <a:solidFill>
            <a:srgbClr val="172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low_gradient.jpg"/>
          <p:cNvPicPr>
            <a:picLocks noChangeAspect="1"/>
          </p:cNvPicPr>
          <p:nvPr/>
        </p:nvPicPr>
        <p:blipFill>
          <a:blip r:embed="rId2"/>
          <a:stretch>
            <a:fillRect/>
          </a:stretch>
        </p:blipFill>
        <p:spPr>
          <a:xfrm>
            <a:off x="7040880" y="1005840"/>
            <a:ext cx="5120640" cy="292608"/>
          </a:xfrm>
          <a:prstGeom prst="rect">
            <a:avLst/>
          </a:prstGeom>
        </p:spPr>
      </p:pic>
      <p:pic>
        <p:nvPicPr>
          <p:cNvPr id="5" name="Picture 4" descr="flow_gradient.jpg"/>
          <p:cNvPicPr>
            <a:picLocks noChangeAspect="1"/>
          </p:cNvPicPr>
          <p:nvPr/>
        </p:nvPicPr>
        <p:blipFill>
          <a:blip r:embed="rId2"/>
          <a:stretch>
            <a:fillRect/>
          </a:stretch>
        </p:blipFill>
        <p:spPr>
          <a:xfrm>
            <a:off x="7818120" y="1298448"/>
            <a:ext cx="4370832" cy="219456"/>
          </a:xfrm>
          <a:prstGeom prst="rect">
            <a:avLst/>
          </a:prstGeom>
        </p:spPr>
      </p:pic>
      <p:sp>
        <p:nvSpPr>
          <p:cNvPr id="6" name="TextBox 5"/>
          <p:cNvSpPr txBox="1"/>
          <p:nvPr/>
        </p:nvSpPr>
        <p:spPr>
          <a:xfrm>
            <a:off x="685800" y="566928"/>
            <a:ext cx="5486400" cy="292608"/>
          </a:xfrm>
          <a:prstGeom prst="rect">
            <a:avLst/>
          </a:prstGeom>
          <a:noFill/>
        </p:spPr>
        <p:txBody>
          <a:bodyPr wrap="square" lIns="0" tIns="0" rIns="0" bIns="0" anchor="t">
            <a:spAutoFit/>
          </a:bodyPr>
          <a:lstStyle/>
          <a:p>
            <a:pPr algn="l">
              <a:spcBef>
                <a:spcPts val="0"/>
              </a:spcBef>
              <a:spcAft>
                <a:spcPts val="0"/>
              </a:spcAft>
              <a:defRPr sz="1000" b="1" i="0">
                <a:solidFill>
                  <a:srgbClr val="FF92BA"/>
                </a:solidFill>
                <a:latin typeface="DejaVu Sans"/>
              </a:defRPr>
            </a:pPr>
            <a:r>
              <a:t>AVODA  /  BRAND &amp; CONTENT STRATEGIST</a:t>
            </a:r>
          </a:p>
        </p:txBody>
      </p:sp>
      <p:sp>
        <p:nvSpPr>
          <p:cNvPr id="7" name="TextBox 6"/>
          <p:cNvSpPr txBox="1"/>
          <p:nvPr/>
        </p:nvSpPr>
        <p:spPr>
          <a:xfrm>
            <a:off x="658368" y="1307592"/>
            <a:ext cx="7132320" cy="2286000"/>
          </a:xfrm>
          <a:prstGeom prst="rect">
            <a:avLst/>
          </a:prstGeom>
          <a:noFill/>
        </p:spPr>
        <p:txBody>
          <a:bodyPr wrap="square" lIns="0" tIns="0" rIns="0" bIns="0" anchor="t">
            <a:spAutoFit/>
          </a:bodyPr>
          <a:lstStyle/>
          <a:p>
            <a:pPr algn="l">
              <a:spcBef>
                <a:spcPts val="0"/>
              </a:spcBef>
              <a:spcAft>
                <a:spcPts val="0"/>
              </a:spcAft>
              <a:defRPr sz="5300" b="1" i="0">
                <a:solidFill>
                  <a:srgbClr val="FFFFFF"/>
                </a:solidFill>
                <a:latin typeface="DejaVu Sans"/>
              </a:defRPr>
            </a:pPr>
            <a:r>
              <a:t>BEFORE</a:t>
            </a:r>
          </a:p>
          <a:p>
            <a:pPr algn="l">
              <a:spcBef>
                <a:spcPts val="0"/>
              </a:spcBef>
              <a:spcAft>
                <a:spcPts val="0"/>
              </a:spcAft>
              <a:defRPr sz="5300" b="1" i="0">
                <a:solidFill>
                  <a:srgbClr val="FFFFFF"/>
                </a:solidFill>
                <a:latin typeface="DejaVu Sans"/>
              </a:defRPr>
            </a:pPr>
            <a:r>
              <a:t>THE POST</a:t>
            </a:r>
          </a:p>
        </p:txBody>
      </p:sp>
      <p:sp>
        <p:nvSpPr>
          <p:cNvPr id="8" name="TextBox 7"/>
          <p:cNvSpPr txBox="1"/>
          <p:nvPr/>
        </p:nvSpPr>
        <p:spPr>
          <a:xfrm>
            <a:off x="713232" y="3767328"/>
            <a:ext cx="6492240" cy="914400"/>
          </a:xfrm>
          <a:prstGeom prst="rect">
            <a:avLst/>
          </a:prstGeom>
          <a:noFill/>
        </p:spPr>
        <p:txBody>
          <a:bodyPr wrap="square" lIns="0" tIns="0" rIns="0" bIns="0" anchor="t">
            <a:spAutoFit/>
          </a:bodyPr>
          <a:lstStyle/>
          <a:p>
            <a:pPr algn="l">
              <a:spcBef>
                <a:spcPts val="0"/>
              </a:spcBef>
              <a:spcAft>
                <a:spcPts val="0"/>
              </a:spcAft>
              <a:defRPr sz="2300" b="0" i="0">
                <a:solidFill>
                  <a:srgbClr val="DDE3F2"/>
                </a:solidFill>
                <a:latin typeface="DejaVu Sans"/>
              </a:defRPr>
            </a:pPr>
            <a:r>
              <a:t>The thinking that gives a brand</a:t>
            </a:r>
          </a:p>
          <a:p>
            <a:pPr algn="l">
              <a:spcBef>
                <a:spcPts val="0"/>
              </a:spcBef>
              <a:spcAft>
                <a:spcPts val="0"/>
              </a:spcAft>
              <a:defRPr sz="2300" b="0" i="0">
                <a:solidFill>
                  <a:srgbClr val="DDE3F2"/>
                </a:solidFill>
                <a:latin typeface="DejaVu Sans"/>
              </a:defRPr>
            </a:pPr>
            <a:r>
              <a:t>something worth saying.</a:t>
            </a:r>
          </a:p>
        </p:txBody>
      </p:sp>
      <p:cxnSp>
        <p:nvCxnSpPr>
          <p:cNvPr id="9" name="Connector 8"/>
          <p:cNvCxnSpPr/>
          <p:nvPr/>
        </p:nvCxnSpPr>
        <p:spPr>
          <a:xfrm>
            <a:off x="713232" y="5166360"/>
            <a:ext cx="4178808" cy="0"/>
          </a:xfrm>
          <a:prstGeom prst="line">
            <a:avLst/>
          </a:prstGeom>
          <a:ln w="38100">
            <a:solidFill>
              <a:srgbClr val="F0609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13232" y="5413248"/>
            <a:ext cx="4297680" cy="347472"/>
          </a:xfrm>
          <a:prstGeom prst="rect">
            <a:avLst/>
          </a:prstGeom>
          <a:noFill/>
        </p:spPr>
        <p:txBody>
          <a:bodyPr wrap="square" lIns="0" tIns="0" rIns="0" bIns="0" anchor="t">
            <a:spAutoFit/>
          </a:bodyPr>
          <a:lstStyle/>
          <a:p>
            <a:pPr algn="l">
              <a:spcBef>
                <a:spcPts val="0"/>
              </a:spcBef>
              <a:spcAft>
                <a:spcPts val="0"/>
              </a:spcAft>
              <a:defRPr sz="1400" b="1" i="0">
                <a:solidFill>
                  <a:srgbClr val="FFFFFF"/>
                </a:solidFill>
                <a:latin typeface="DejaVu Sans"/>
              </a:defRPr>
            </a:pPr>
            <a:r>
              <a:t>YAGAZIE BENJAMIN</a:t>
            </a:r>
          </a:p>
        </p:txBody>
      </p:sp>
      <p:sp>
        <p:nvSpPr>
          <p:cNvPr id="11" name="TextBox 10"/>
          <p:cNvSpPr txBox="1"/>
          <p:nvPr/>
        </p:nvSpPr>
        <p:spPr>
          <a:xfrm>
            <a:off x="713232" y="5797296"/>
            <a:ext cx="5943600" cy="320040"/>
          </a:xfrm>
          <a:prstGeom prst="rect">
            <a:avLst/>
          </a:prstGeom>
          <a:noFill/>
        </p:spPr>
        <p:txBody>
          <a:bodyPr wrap="square" lIns="0" tIns="0" rIns="0" bIns="0" anchor="t">
            <a:spAutoFit/>
          </a:bodyPr>
          <a:lstStyle/>
          <a:p>
            <a:pPr algn="l">
              <a:spcBef>
                <a:spcPts val="0"/>
              </a:spcBef>
              <a:spcAft>
                <a:spcPts val="0"/>
              </a:spcAft>
              <a:defRPr sz="1200" b="0" i="0">
                <a:solidFill>
                  <a:srgbClr val="C3C8D8"/>
                </a:solidFill>
                <a:latin typeface="DejaVu Sans"/>
              </a:defRPr>
            </a:pPr>
            <a:r>
              <a:t>Brand strategist  /  Content, campaigns, culture</a:t>
            </a:r>
          </a:p>
        </p:txBody>
      </p:sp>
      <p:sp>
        <p:nvSpPr>
          <p:cNvPr id="12" name="Rounded Rectangle 11"/>
          <p:cNvSpPr/>
          <p:nvPr/>
        </p:nvSpPr>
        <p:spPr>
          <a:xfrm>
            <a:off x="9153144" y="2048256"/>
            <a:ext cx="1572768" cy="15727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q1_city.png"/>
          <p:cNvPicPr>
            <a:picLocks noChangeAspect="1"/>
          </p:cNvPicPr>
          <p:nvPr/>
        </p:nvPicPr>
        <p:blipFill>
          <a:blip r:embed="rId3"/>
          <a:stretch>
            <a:fillRect/>
          </a:stretch>
        </p:blipFill>
        <p:spPr>
          <a:xfrm>
            <a:off x="9253728" y="2148840"/>
            <a:ext cx="1371600" cy="1371600"/>
          </a:xfrm>
          <a:prstGeom prst="rect">
            <a:avLst/>
          </a:prstGeom>
        </p:spPr>
      </p:pic>
      <p:sp>
        <p:nvSpPr>
          <p:cNvPr id="14" name="TextBox 13"/>
          <p:cNvSpPr txBox="1"/>
          <p:nvPr/>
        </p:nvSpPr>
        <p:spPr>
          <a:xfrm>
            <a:off x="8458200" y="3959352"/>
            <a:ext cx="2880360" cy="1060704"/>
          </a:xfrm>
          <a:prstGeom prst="rect">
            <a:avLst/>
          </a:prstGeom>
          <a:noFill/>
        </p:spPr>
        <p:txBody>
          <a:bodyPr wrap="square" lIns="0" tIns="0" rIns="0" bIns="0" anchor="t">
            <a:spAutoFit/>
          </a:bodyPr>
          <a:lstStyle/>
          <a:p>
            <a:pPr algn="ctr">
              <a:spcBef>
                <a:spcPts val="0"/>
              </a:spcBef>
              <a:spcAft>
                <a:spcPts val="0"/>
              </a:spcAft>
              <a:defRPr sz="1700" b="1" i="0">
                <a:solidFill>
                  <a:srgbClr val="FFFFFF"/>
                </a:solidFill>
                <a:latin typeface="DejaVu Sans"/>
              </a:defRPr>
            </a:pPr>
            <a:r>
              <a:t>Notice what people</a:t>
            </a:r>
          </a:p>
          <a:p>
            <a:pPr algn="ctr">
              <a:spcBef>
                <a:spcPts val="0"/>
              </a:spcBef>
              <a:spcAft>
                <a:spcPts val="0"/>
              </a:spcAft>
              <a:defRPr sz="1700" b="1" i="0">
                <a:solidFill>
                  <a:srgbClr val="FFFFFF"/>
                </a:solidFill>
                <a:latin typeface="DejaVu Sans"/>
              </a:defRPr>
            </a:pPr>
            <a:r>
              <a:t>recognise. Build the</a:t>
            </a:r>
          </a:p>
          <a:p>
            <a:pPr algn="ctr">
              <a:spcBef>
                <a:spcPts val="0"/>
              </a:spcBef>
              <a:spcAft>
                <a:spcPts val="0"/>
              </a:spcAft>
              <a:defRPr sz="1700" b="1" i="0">
                <a:solidFill>
                  <a:srgbClr val="FFFFFF"/>
                </a:solidFill>
                <a:latin typeface="DejaVu Sans"/>
              </a:defRPr>
            </a:pPr>
            <a:r>
              <a:t>story they want to join.</a:t>
            </a:r>
          </a:p>
        </p:txBody>
      </p:sp>
      <p:cxnSp>
        <p:nvCxnSpPr>
          <p:cNvPr id="15" name="Connector 14"/>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17" name="TextBox 16"/>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OPENING</a:t>
            </a:r>
          </a:p>
        </p:txBody>
      </p:sp>
      <p:sp>
        <p:nvSpPr>
          <p:cNvPr id="18" name="TextBox 17"/>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01 /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APPLICATION QUESTION 01</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People join when the idea feels like theirs.</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A cultural conversation I think brands should pay attention to.</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q1_city.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662940" y="2061131"/>
            <a:ext cx="6766560" cy="1435608"/>
          </a:xfrm>
          <a:prstGeom prst="rect">
            <a:avLst/>
          </a:prstGeom>
          <a:noFill/>
        </p:spPr>
        <p:txBody>
          <a:bodyPr wrap="square" lIns="0" tIns="0" rIns="0" bIns="0" anchor="t">
            <a:spAutoFit/>
          </a:bodyPr>
          <a:lstStyle/>
          <a:p>
            <a:pPr algn="l">
              <a:spcBef>
                <a:spcPts val="0"/>
              </a:spcBef>
              <a:spcAft>
                <a:spcPts val="0"/>
              </a:spcAft>
              <a:defRPr sz="1700" b="0" i="0">
                <a:solidFill>
                  <a:srgbClr val="1A2038"/>
                </a:solidFill>
                <a:latin typeface="DejaVu Sans"/>
              </a:defRPr>
            </a:pPr>
            <a:r>
              <a:rPr dirty="0"/>
              <a:t>When Lagos Run and Lagos Life started travelling, the hook wasn’t simply that they were games set in Lagos. People </a:t>
            </a:r>
            <a:r>
              <a:rPr dirty="0" err="1"/>
              <a:t>recognised</a:t>
            </a:r>
            <a:r>
              <a:rPr dirty="0"/>
              <a:t> the world inside them. The references felt close enough to everyday life that playing became a way of saying, “I know this; this is ours.” That recognition made the games fun to share.</a:t>
            </a:r>
          </a:p>
        </p:txBody>
      </p:sp>
      <p:sp>
        <p:nvSpPr>
          <p:cNvPr id="9" name="TextBox 8"/>
          <p:cNvSpPr txBox="1"/>
          <p:nvPr/>
        </p:nvSpPr>
        <p:spPr>
          <a:xfrm>
            <a:off x="713232" y="3936025"/>
            <a:ext cx="6766560" cy="1563624"/>
          </a:xfrm>
          <a:prstGeom prst="rect">
            <a:avLst/>
          </a:prstGeom>
          <a:noFill/>
        </p:spPr>
        <p:txBody>
          <a:bodyPr wrap="square" lIns="0" tIns="0" rIns="0" bIns="0" anchor="t">
            <a:spAutoFit/>
          </a:bodyPr>
          <a:lstStyle/>
          <a:p>
            <a:pPr algn="l">
              <a:spcBef>
                <a:spcPts val="0"/>
              </a:spcBef>
              <a:spcAft>
                <a:spcPts val="0"/>
              </a:spcAft>
              <a:defRPr sz="1600" b="0" i="0">
                <a:solidFill>
                  <a:srgbClr val="1A2038"/>
                </a:solidFill>
                <a:latin typeface="DejaVu Sans"/>
              </a:defRPr>
            </a:pPr>
            <a:r>
              <a:rPr sz="1400" dirty="0"/>
              <a:t>That’s the cultural conversation I think brands should watch: people want to see their actual context reflected back to them, with enough specificity to feel personal. A Lagos detail isn’t decoration, and local slang on a generic idea won’t do the job. The detail has to shape the idea itself. When it does, people don’t just notice the brand; they enter the story, play with it and pass it on. Lagos is one example of a wider truth: relevance comes from making people feel, “this could only be for us.”</a:t>
            </a:r>
          </a:p>
        </p:txBody>
      </p:sp>
      <p:sp>
        <p:nvSpPr>
          <p:cNvPr id="10" name="Rounded Rectangle 9"/>
          <p:cNvSpPr/>
          <p:nvPr/>
        </p:nvSpPr>
        <p:spPr>
          <a:xfrm>
            <a:off x="7891272" y="2029968"/>
            <a:ext cx="3593592" cy="3520440"/>
          </a:xfrm>
          <a:prstGeom prst="roundRect">
            <a:avLst>
              <a:gd name="adj" fmla="val 12000"/>
            </a:avLst>
          </a:prstGeom>
          <a:solidFill>
            <a:srgbClr val="11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11312" y="2331720"/>
            <a:ext cx="2926080" cy="822960"/>
          </a:xfrm>
          <a:prstGeom prst="rect">
            <a:avLst/>
          </a:prstGeom>
          <a:noFill/>
        </p:spPr>
        <p:txBody>
          <a:bodyPr wrap="square" lIns="0" tIns="0" rIns="0" bIns="0" anchor="t">
            <a:spAutoFit/>
          </a:bodyPr>
          <a:lstStyle/>
          <a:p>
            <a:pPr algn="l">
              <a:spcBef>
                <a:spcPts val="0"/>
              </a:spcBef>
              <a:spcAft>
                <a:spcPts val="0"/>
              </a:spcAft>
              <a:defRPr sz="1700" b="1" i="0">
                <a:solidFill>
                  <a:srgbClr val="FFFFFF"/>
                </a:solidFill>
                <a:latin typeface="DejaVu Sans"/>
              </a:defRPr>
            </a:pPr>
            <a:r>
              <a:t>A DETAIL</a:t>
            </a:r>
          </a:p>
          <a:p>
            <a:pPr algn="l">
              <a:spcBef>
                <a:spcPts val="0"/>
              </a:spcBef>
              <a:spcAft>
                <a:spcPts val="0"/>
              </a:spcAft>
              <a:defRPr sz="1700" b="1" i="0">
                <a:solidFill>
                  <a:srgbClr val="FFFFFF"/>
                </a:solidFill>
                <a:latin typeface="DejaVu Sans"/>
              </a:defRPr>
            </a:pPr>
            <a:r>
              <a:t>BECOMES A DOOR</a:t>
            </a:r>
          </a:p>
        </p:txBody>
      </p:sp>
      <p:sp>
        <p:nvSpPr>
          <p:cNvPr id="12" name="TextBox 11"/>
          <p:cNvSpPr txBox="1"/>
          <p:nvPr/>
        </p:nvSpPr>
        <p:spPr>
          <a:xfrm>
            <a:off x="8220456" y="3310128"/>
            <a:ext cx="1645920" cy="210312"/>
          </a:xfrm>
          <a:prstGeom prst="rect">
            <a:avLst/>
          </a:prstGeom>
          <a:noFill/>
        </p:spPr>
        <p:txBody>
          <a:bodyPr wrap="square" lIns="0" tIns="0" rIns="0" bIns="0" anchor="ctr">
            <a:spAutoFit/>
          </a:bodyPr>
          <a:lstStyle/>
          <a:p>
            <a:pPr algn="l">
              <a:spcBef>
                <a:spcPts val="0"/>
              </a:spcBef>
              <a:spcAft>
                <a:spcPts val="0"/>
              </a:spcAft>
              <a:defRPr sz="830" b="1" i="0">
                <a:solidFill>
                  <a:srgbClr val="FF92BA"/>
                </a:solidFill>
                <a:latin typeface="DejaVu Sans"/>
              </a:defRPr>
            </a:pPr>
            <a:r>
              <a:t>FAMILIAR DETAILS</a:t>
            </a:r>
          </a:p>
        </p:txBody>
      </p:sp>
      <p:sp>
        <p:nvSpPr>
          <p:cNvPr id="13" name="TextBox 12"/>
          <p:cNvSpPr txBox="1"/>
          <p:nvPr/>
        </p:nvSpPr>
        <p:spPr>
          <a:xfrm>
            <a:off x="9784080" y="3310128"/>
            <a:ext cx="1371600" cy="219456"/>
          </a:xfrm>
          <a:prstGeom prst="rect">
            <a:avLst/>
          </a:prstGeom>
          <a:noFill/>
        </p:spPr>
        <p:txBody>
          <a:bodyPr wrap="square" lIns="0" tIns="0" rIns="0" bIns="0" anchor="ctr">
            <a:spAutoFit/>
          </a:bodyPr>
          <a:lstStyle/>
          <a:p>
            <a:pPr algn="l">
              <a:spcBef>
                <a:spcPts val="0"/>
              </a:spcBef>
              <a:spcAft>
                <a:spcPts val="0"/>
              </a:spcAft>
              <a:defRPr sz="960" b="0" i="0">
                <a:solidFill>
                  <a:srgbClr val="FFFFFF"/>
                </a:solidFill>
                <a:latin typeface="DejaVu Sans"/>
              </a:defRPr>
            </a:pPr>
            <a:r>
              <a:t>I know this.</a:t>
            </a:r>
          </a:p>
        </p:txBody>
      </p:sp>
      <p:cxnSp>
        <p:nvCxnSpPr>
          <p:cNvPr id="14" name="Connector 13"/>
          <p:cNvCxnSpPr/>
          <p:nvPr/>
        </p:nvCxnSpPr>
        <p:spPr>
          <a:xfrm>
            <a:off x="8229600" y="3602736"/>
            <a:ext cx="2971800" cy="0"/>
          </a:xfrm>
          <a:prstGeom prst="line">
            <a:avLst/>
          </a:prstGeom>
          <a:ln w="7620">
            <a:solidFill>
              <a:srgbClr val="48506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0456" y="3813048"/>
            <a:ext cx="1645920" cy="210312"/>
          </a:xfrm>
          <a:prstGeom prst="rect">
            <a:avLst/>
          </a:prstGeom>
          <a:noFill/>
        </p:spPr>
        <p:txBody>
          <a:bodyPr wrap="square" lIns="0" tIns="0" rIns="0" bIns="0" anchor="ctr">
            <a:spAutoFit/>
          </a:bodyPr>
          <a:lstStyle/>
          <a:p>
            <a:pPr algn="l">
              <a:spcBef>
                <a:spcPts val="0"/>
              </a:spcBef>
              <a:spcAft>
                <a:spcPts val="0"/>
              </a:spcAft>
              <a:defRPr sz="830" b="1" i="0">
                <a:solidFill>
                  <a:srgbClr val="FF92BA"/>
                </a:solidFill>
                <a:latin typeface="DejaVu Sans"/>
              </a:defRPr>
            </a:pPr>
            <a:r>
              <a:t>RECOGNITION</a:t>
            </a:r>
          </a:p>
        </p:txBody>
      </p:sp>
      <p:sp>
        <p:nvSpPr>
          <p:cNvPr id="16" name="TextBox 15"/>
          <p:cNvSpPr txBox="1"/>
          <p:nvPr/>
        </p:nvSpPr>
        <p:spPr>
          <a:xfrm>
            <a:off x="9784080" y="3813048"/>
            <a:ext cx="1371600" cy="219456"/>
          </a:xfrm>
          <a:prstGeom prst="rect">
            <a:avLst/>
          </a:prstGeom>
          <a:noFill/>
        </p:spPr>
        <p:txBody>
          <a:bodyPr wrap="square" lIns="0" tIns="0" rIns="0" bIns="0" anchor="ctr">
            <a:spAutoFit/>
          </a:bodyPr>
          <a:lstStyle/>
          <a:p>
            <a:pPr algn="l">
              <a:spcBef>
                <a:spcPts val="0"/>
              </a:spcBef>
              <a:spcAft>
                <a:spcPts val="0"/>
              </a:spcAft>
              <a:defRPr sz="960" b="0" i="0">
                <a:solidFill>
                  <a:srgbClr val="FFFFFF"/>
                </a:solidFill>
                <a:latin typeface="DejaVu Sans"/>
              </a:defRPr>
            </a:pPr>
            <a:r>
              <a:t>This feels like us.</a:t>
            </a:r>
          </a:p>
        </p:txBody>
      </p:sp>
      <p:cxnSp>
        <p:nvCxnSpPr>
          <p:cNvPr id="17" name="Connector 16"/>
          <p:cNvCxnSpPr/>
          <p:nvPr/>
        </p:nvCxnSpPr>
        <p:spPr>
          <a:xfrm>
            <a:off x="8229600" y="4105656"/>
            <a:ext cx="2971800" cy="0"/>
          </a:xfrm>
          <a:prstGeom prst="line">
            <a:avLst/>
          </a:prstGeom>
          <a:ln w="7620">
            <a:solidFill>
              <a:srgbClr val="48506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0456" y="4315968"/>
            <a:ext cx="1645920" cy="210312"/>
          </a:xfrm>
          <a:prstGeom prst="rect">
            <a:avLst/>
          </a:prstGeom>
          <a:noFill/>
        </p:spPr>
        <p:txBody>
          <a:bodyPr wrap="square" lIns="0" tIns="0" rIns="0" bIns="0" anchor="ctr">
            <a:spAutoFit/>
          </a:bodyPr>
          <a:lstStyle/>
          <a:p>
            <a:pPr algn="l">
              <a:spcBef>
                <a:spcPts val="0"/>
              </a:spcBef>
              <a:spcAft>
                <a:spcPts val="0"/>
              </a:spcAft>
              <a:defRPr sz="830" b="1" i="0">
                <a:solidFill>
                  <a:srgbClr val="FF92BA"/>
                </a:solidFill>
                <a:latin typeface="DejaVu Sans"/>
              </a:defRPr>
            </a:pPr>
            <a:r>
              <a:t>PARTICIPATION</a:t>
            </a:r>
          </a:p>
        </p:txBody>
      </p:sp>
      <p:sp>
        <p:nvSpPr>
          <p:cNvPr id="19" name="TextBox 18"/>
          <p:cNvSpPr txBox="1"/>
          <p:nvPr/>
        </p:nvSpPr>
        <p:spPr>
          <a:xfrm>
            <a:off x="9784080" y="4315968"/>
            <a:ext cx="1371600" cy="219456"/>
          </a:xfrm>
          <a:prstGeom prst="rect">
            <a:avLst/>
          </a:prstGeom>
          <a:noFill/>
        </p:spPr>
        <p:txBody>
          <a:bodyPr wrap="square" lIns="0" tIns="0" rIns="0" bIns="0" anchor="ctr">
            <a:spAutoFit/>
          </a:bodyPr>
          <a:lstStyle/>
          <a:p>
            <a:pPr algn="l">
              <a:spcBef>
                <a:spcPts val="0"/>
              </a:spcBef>
              <a:spcAft>
                <a:spcPts val="0"/>
              </a:spcAft>
              <a:defRPr sz="960" b="0" i="0">
                <a:solidFill>
                  <a:srgbClr val="FFFFFF"/>
                </a:solidFill>
                <a:latin typeface="DejaVu Sans"/>
              </a:defRPr>
            </a:pPr>
            <a:r>
              <a:t>I want to try it.</a:t>
            </a:r>
          </a:p>
        </p:txBody>
      </p:sp>
      <p:cxnSp>
        <p:nvCxnSpPr>
          <p:cNvPr id="20" name="Connector 19"/>
          <p:cNvCxnSpPr/>
          <p:nvPr/>
        </p:nvCxnSpPr>
        <p:spPr>
          <a:xfrm>
            <a:off x="8229600" y="4608576"/>
            <a:ext cx="2971800" cy="0"/>
          </a:xfrm>
          <a:prstGeom prst="line">
            <a:avLst/>
          </a:prstGeom>
          <a:ln w="7620">
            <a:solidFill>
              <a:srgbClr val="48506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0456" y="4818888"/>
            <a:ext cx="1645920" cy="210312"/>
          </a:xfrm>
          <a:prstGeom prst="rect">
            <a:avLst/>
          </a:prstGeom>
          <a:noFill/>
        </p:spPr>
        <p:txBody>
          <a:bodyPr wrap="square" lIns="0" tIns="0" rIns="0" bIns="0" anchor="ctr">
            <a:spAutoFit/>
          </a:bodyPr>
          <a:lstStyle/>
          <a:p>
            <a:pPr algn="l">
              <a:spcBef>
                <a:spcPts val="0"/>
              </a:spcBef>
              <a:spcAft>
                <a:spcPts val="0"/>
              </a:spcAft>
              <a:defRPr sz="830" b="1" i="0">
                <a:solidFill>
                  <a:srgbClr val="FF92BA"/>
                </a:solidFill>
                <a:latin typeface="DejaVu Sans"/>
              </a:defRPr>
            </a:pPr>
            <a:r>
              <a:t>SHARING</a:t>
            </a:r>
          </a:p>
        </p:txBody>
      </p:sp>
      <p:sp>
        <p:nvSpPr>
          <p:cNvPr id="22" name="TextBox 21"/>
          <p:cNvSpPr txBox="1"/>
          <p:nvPr/>
        </p:nvSpPr>
        <p:spPr>
          <a:xfrm>
            <a:off x="9784080" y="4818888"/>
            <a:ext cx="1371600" cy="219456"/>
          </a:xfrm>
          <a:prstGeom prst="rect">
            <a:avLst/>
          </a:prstGeom>
          <a:noFill/>
        </p:spPr>
        <p:txBody>
          <a:bodyPr wrap="square" lIns="0" tIns="0" rIns="0" bIns="0" anchor="ctr">
            <a:spAutoFit/>
          </a:bodyPr>
          <a:lstStyle/>
          <a:p>
            <a:pPr algn="l">
              <a:spcBef>
                <a:spcPts val="0"/>
              </a:spcBef>
              <a:spcAft>
                <a:spcPts val="0"/>
              </a:spcAft>
              <a:defRPr sz="960" b="0" i="0">
                <a:solidFill>
                  <a:srgbClr val="FFFFFF"/>
                </a:solidFill>
                <a:latin typeface="DejaVu Sans"/>
              </a:defRPr>
            </a:pPr>
            <a:r>
              <a:t>You have to see this.</a:t>
            </a:r>
          </a:p>
        </p:txBody>
      </p:sp>
      <p:cxnSp>
        <p:nvCxnSpPr>
          <p:cNvPr id="23" name="Connector 22"/>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5" name="TextBox 24"/>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THREE ANSWERS</a:t>
            </a:r>
          </a:p>
        </p:txBody>
      </p:sp>
      <p:sp>
        <p:nvSpPr>
          <p:cNvPr id="26" name="TextBox 25"/>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02 /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F92BA"/>
                </a:solidFill>
                <a:latin typeface="DejaVu Sans"/>
              </a:defRPr>
            </a:pPr>
            <a:r>
              <a:t>APPLICATION QUESTION 02</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FFFFFF"/>
                </a:solidFill>
                <a:latin typeface="DejaVu Sans"/>
              </a:defRPr>
            </a:pPr>
            <a:r>
              <a:t>A special feeling should not be out of reach.</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D8DBE7"/>
                </a:solidFill>
                <a:latin typeface="DejaVu Sans"/>
              </a:defRPr>
            </a:pPr>
            <a:r>
              <a:t>A brand I think is doing interesting work: Lattafa.</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q2_perfume.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48840"/>
            <a:ext cx="6629400" cy="1463040"/>
          </a:xfrm>
          <a:prstGeom prst="rect">
            <a:avLst/>
          </a:prstGeom>
          <a:noFill/>
        </p:spPr>
        <p:txBody>
          <a:bodyPr wrap="square" lIns="0" tIns="0" rIns="0" bIns="0" anchor="t">
            <a:spAutoFit/>
          </a:bodyPr>
          <a:lstStyle/>
          <a:p>
            <a:pPr algn="l">
              <a:spcBef>
                <a:spcPts val="0"/>
              </a:spcBef>
              <a:spcAft>
                <a:spcPts val="0"/>
              </a:spcAft>
              <a:defRPr sz="1800" b="0" i="0">
                <a:solidFill>
                  <a:srgbClr val="FFFFFF"/>
                </a:solidFill>
                <a:latin typeface="DejaVu Sans"/>
              </a:defRPr>
            </a:pPr>
            <a:r>
              <a:t>Lattafa is a brand I find interesting because it understands that having a budget doesn’t mean people stop wanting to feel special. People still want a fragrance that makes them feel polished and gives them a little of that luxury experience. Lattafa has built a recognisable niche by making that experience easier to afford.</a:t>
            </a:r>
          </a:p>
        </p:txBody>
      </p:sp>
      <p:sp>
        <p:nvSpPr>
          <p:cNvPr id="9" name="TextBox 8"/>
          <p:cNvSpPr txBox="1"/>
          <p:nvPr/>
        </p:nvSpPr>
        <p:spPr>
          <a:xfrm>
            <a:off x="707136" y="4064937"/>
            <a:ext cx="6537960" cy="1231106"/>
          </a:xfrm>
          <a:prstGeom prst="rect">
            <a:avLst/>
          </a:prstGeom>
          <a:noFill/>
        </p:spPr>
        <p:txBody>
          <a:bodyPr wrap="square" lIns="0" tIns="0" rIns="0" bIns="0" anchor="t">
            <a:spAutoFit/>
          </a:bodyPr>
          <a:lstStyle/>
          <a:p>
            <a:pPr algn="l">
              <a:spcBef>
                <a:spcPts val="0"/>
              </a:spcBef>
              <a:spcAft>
                <a:spcPts val="0"/>
              </a:spcAft>
              <a:defRPr sz="1800" b="0" i="0">
                <a:solidFill>
                  <a:srgbClr val="DDE3F2"/>
                </a:solidFill>
                <a:latin typeface="DejaVu Sans"/>
              </a:defRPr>
            </a:pPr>
            <a:r>
              <a:rPr sz="1600" dirty="0"/>
              <a:t>It saw the gap between what people would love to enjoy and what they can comfortably pay, then built for that gap. I think that is what many competitors miss: their customers may be price-conscious, but they still care about how a product makes them feel.</a:t>
            </a:r>
          </a:p>
        </p:txBody>
      </p:sp>
      <p:sp>
        <p:nvSpPr>
          <p:cNvPr id="10" name="Rounded Rectangle 9"/>
          <p:cNvSpPr/>
          <p:nvPr/>
        </p:nvSpPr>
        <p:spPr>
          <a:xfrm>
            <a:off x="7845552" y="2075688"/>
            <a:ext cx="3639312" cy="3273552"/>
          </a:xfrm>
          <a:prstGeom prst="roundRect">
            <a:avLst>
              <a:gd name="adj" fmla="val 12000"/>
            </a:avLst>
          </a:prstGeom>
          <a:solidFill>
            <a:srgbClr val="20203F"/>
          </a:solidFill>
          <a:ln w="12700">
            <a:solidFill>
              <a:srgbClr val="353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93024" y="2359152"/>
            <a:ext cx="2834640" cy="603504"/>
          </a:xfrm>
          <a:prstGeom prst="rect">
            <a:avLst/>
          </a:prstGeom>
          <a:noFill/>
        </p:spPr>
        <p:txBody>
          <a:bodyPr wrap="square" lIns="0" tIns="0" rIns="0" bIns="0" anchor="t">
            <a:spAutoFit/>
          </a:bodyPr>
          <a:lstStyle/>
          <a:p>
            <a:pPr algn="l">
              <a:spcBef>
                <a:spcPts val="0"/>
              </a:spcBef>
              <a:spcAft>
                <a:spcPts val="0"/>
              </a:spcAft>
              <a:defRPr sz="1000" b="1" i="0">
                <a:solidFill>
                  <a:srgbClr val="FF92BA"/>
                </a:solidFill>
                <a:latin typeface="DejaVu Sans"/>
              </a:defRPr>
            </a:pPr>
            <a:r>
              <a:t>WHAT THE CUSTOMER</a:t>
            </a:r>
          </a:p>
          <a:p>
            <a:pPr algn="l">
              <a:spcBef>
                <a:spcPts val="0"/>
              </a:spcBef>
              <a:spcAft>
                <a:spcPts val="0"/>
              </a:spcAft>
              <a:defRPr sz="1000" b="1" i="0">
                <a:solidFill>
                  <a:srgbClr val="FF92BA"/>
                </a:solidFill>
                <a:latin typeface="DejaVu Sans"/>
              </a:defRPr>
            </a:pPr>
            <a:r>
              <a:t>IS REALLY CHOOSING</a:t>
            </a:r>
          </a:p>
        </p:txBody>
      </p:sp>
      <p:sp>
        <p:nvSpPr>
          <p:cNvPr id="12" name="TextBox 11"/>
          <p:cNvSpPr txBox="1"/>
          <p:nvPr/>
        </p:nvSpPr>
        <p:spPr>
          <a:xfrm>
            <a:off x="8211312" y="3246120"/>
            <a:ext cx="2743200" cy="356616"/>
          </a:xfrm>
          <a:prstGeom prst="rect">
            <a:avLst/>
          </a:prstGeom>
          <a:noFill/>
        </p:spPr>
        <p:txBody>
          <a:bodyPr wrap="square" lIns="0" tIns="0" rIns="0" bIns="0" anchor="t">
            <a:spAutoFit/>
          </a:bodyPr>
          <a:lstStyle/>
          <a:p>
            <a:pPr algn="l">
              <a:spcBef>
                <a:spcPts val="0"/>
              </a:spcBef>
              <a:spcAft>
                <a:spcPts val="0"/>
              </a:spcAft>
              <a:defRPr sz="2100" b="1" i="0">
                <a:solidFill>
                  <a:srgbClr val="FFFFFF"/>
                </a:solidFill>
                <a:latin typeface="DejaVu Sans"/>
              </a:defRPr>
            </a:pPr>
            <a:r>
              <a:t>A fragrance</a:t>
            </a:r>
          </a:p>
        </p:txBody>
      </p:sp>
      <p:cxnSp>
        <p:nvCxnSpPr>
          <p:cNvPr id="13" name="Connector 12"/>
          <p:cNvCxnSpPr/>
          <p:nvPr/>
        </p:nvCxnSpPr>
        <p:spPr>
          <a:xfrm>
            <a:off x="8211312" y="3730752"/>
            <a:ext cx="2889504" cy="0"/>
          </a:xfrm>
          <a:prstGeom prst="line">
            <a:avLst/>
          </a:prstGeom>
          <a:ln w="12700">
            <a:solidFill>
              <a:srgbClr val="454D6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11312" y="3977639"/>
            <a:ext cx="2788920" cy="822960"/>
          </a:xfrm>
          <a:prstGeom prst="rect">
            <a:avLst/>
          </a:prstGeom>
          <a:noFill/>
        </p:spPr>
        <p:txBody>
          <a:bodyPr wrap="square" lIns="0" tIns="0" rIns="0" bIns="0" anchor="t">
            <a:spAutoFit/>
          </a:bodyPr>
          <a:lstStyle/>
          <a:p>
            <a:pPr algn="l">
              <a:spcBef>
                <a:spcPts val="0"/>
              </a:spcBef>
              <a:spcAft>
                <a:spcPts val="0"/>
              </a:spcAft>
              <a:defRPr sz="1800" b="1" i="0">
                <a:solidFill>
                  <a:srgbClr val="FFFFFF"/>
                </a:solidFill>
                <a:latin typeface="DejaVu Sans"/>
              </a:defRPr>
            </a:pPr>
            <a:r>
              <a:t>A way to feel polished,</a:t>
            </a:r>
          </a:p>
          <a:p>
            <a:pPr algn="l">
              <a:spcBef>
                <a:spcPts val="0"/>
              </a:spcBef>
              <a:spcAft>
                <a:spcPts val="0"/>
              </a:spcAft>
              <a:defRPr sz="1800" b="1" i="0">
                <a:solidFill>
                  <a:srgbClr val="FFFFFF"/>
                </a:solidFill>
                <a:latin typeface="DejaVu Sans"/>
              </a:defRPr>
            </a:pPr>
            <a:r>
              <a:t>noticed and special.</a:t>
            </a:r>
          </a:p>
        </p:txBody>
      </p:sp>
      <p:sp>
        <p:nvSpPr>
          <p:cNvPr id="15" name="Rounded Rectangle 14"/>
          <p:cNvSpPr/>
          <p:nvPr/>
        </p:nvSpPr>
        <p:spPr>
          <a:xfrm>
            <a:off x="8211312" y="4937760"/>
            <a:ext cx="2688336" cy="310896"/>
          </a:xfrm>
          <a:prstGeom prst="roundRect">
            <a:avLst>
              <a:gd name="adj" fmla="val 12000"/>
            </a:avLst>
          </a:prstGeom>
          <a:solidFill>
            <a:srgbClr val="34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11896" y="4978908"/>
            <a:ext cx="2487168" cy="219456"/>
          </a:xfrm>
          <a:prstGeom prst="rect">
            <a:avLst/>
          </a:prstGeom>
          <a:noFill/>
        </p:spPr>
        <p:txBody>
          <a:bodyPr wrap="square" lIns="0" tIns="0" rIns="0" bIns="0" anchor="ctr">
            <a:spAutoFit/>
          </a:bodyPr>
          <a:lstStyle/>
          <a:p>
            <a:pPr algn="l">
              <a:spcBef>
                <a:spcPts val="0"/>
              </a:spcBef>
              <a:spcAft>
                <a:spcPts val="0"/>
              </a:spcAft>
              <a:defRPr sz="850" b="1" i="0">
                <a:solidFill>
                  <a:srgbClr val="DCE2F5"/>
                </a:solidFill>
                <a:latin typeface="DejaVu Sans"/>
              </a:defRPr>
            </a:pPr>
            <a:r>
              <a:t>PRICE MATTERS. FEELING MATTERS TOO.</a:t>
            </a:r>
          </a:p>
        </p:txBody>
      </p:sp>
      <p:cxnSp>
        <p:nvCxnSpPr>
          <p:cNvPr id="17" name="Connector 16"/>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19" name="TextBox 18"/>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THREE ANSWERS</a:t>
            </a:r>
          </a:p>
        </p:txBody>
      </p:sp>
      <p:sp>
        <p:nvSpPr>
          <p:cNvPr id="20" name="TextBox 19"/>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03 / 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APPLICATION QUESTION 03</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Make opportunity easier to show up for.</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An idea I would like AIESEC to make: Rent A Dress.</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q3_hanger.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057400"/>
            <a:ext cx="6720840" cy="1554480"/>
          </a:xfrm>
          <a:prstGeom prst="rect">
            <a:avLst/>
          </a:prstGeom>
          <a:noFill/>
        </p:spPr>
        <p:txBody>
          <a:bodyPr wrap="square" lIns="0" tIns="0" rIns="0" bIns="0" anchor="t">
            <a:spAutoFit/>
          </a:bodyPr>
          <a:lstStyle/>
          <a:p>
            <a:pPr algn="l">
              <a:spcBef>
                <a:spcPts val="0"/>
              </a:spcBef>
              <a:spcAft>
                <a:spcPts val="0"/>
              </a:spcAft>
              <a:defRPr sz="1600" b="0" i="0">
                <a:solidFill>
                  <a:srgbClr val="1A2038"/>
                </a:solidFill>
                <a:latin typeface="DejaVu Sans"/>
              </a:defRPr>
            </a:pPr>
            <a:r>
              <a:t>An idea I had for AIESEC was “Rent A Dress”: a way for young people preparing for an interview tied to an exchange or career opportunity to borrow or rent an outfit that helps them feel ready to show up. Getting an opportunity can come with extra costs, and what you wear can affect how confident you feel walking into the room.</a:t>
            </a:r>
          </a:p>
        </p:txBody>
      </p:sp>
      <p:sp>
        <p:nvSpPr>
          <p:cNvPr id="9" name="TextBox 8"/>
          <p:cNvSpPr txBox="1"/>
          <p:nvPr/>
        </p:nvSpPr>
        <p:spPr>
          <a:xfrm>
            <a:off x="713232" y="3813048"/>
            <a:ext cx="6720840" cy="822960"/>
          </a:xfrm>
          <a:prstGeom prst="rect">
            <a:avLst/>
          </a:prstGeom>
          <a:noFill/>
        </p:spPr>
        <p:txBody>
          <a:bodyPr wrap="square" lIns="0" tIns="0" rIns="0" bIns="0" anchor="t">
            <a:spAutoFit/>
          </a:bodyPr>
          <a:lstStyle/>
          <a:p>
            <a:pPr algn="l">
              <a:spcBef>
                <a:spcPts val="0"/>
              </a:spcBef>
              <a:spcAft>
                <a:spcPts val="0"/>
              </a:spcAft>
              <a:defRPr sz="1600" b="0" i="0">
                <a:solidFill>
                  <a:srgbClr val="1A2038"/>
                </a:solidFill>
                <a:latin typeface="DejaVu Sans"/>
              </a:defRPr>
            </a:pPr>
            <a:r>
              <a:t>AIESEC could work with local fashion businesses to make that part easier. I’d like to see a brand turn encouragement into practical help.</a:t>
            </a:r>
          </a:p>
        </p:txBody>
      </p:sp>
      <p:sp>
        <p:nvSpPr>
          <p:cNvPr id="10" name="Rounded Rectangle 9"/>
          <p:cNvSpPr/>
          <p:nvPr/>
        </p:nvSpPr>
        <p:spPr>
          <a:xfrm>
            <a:off x="7845552" y="2029968"/>
            <a:ext cx="3639312" cy="3474720"/>
          </a:xfrm>
          <a:prstGeom prst="roundRect">
            <a:avLst>
              <a:gd name="adj" fmla="val 12000"/>
            </a:avLst>
          </a:prstGeom>
          <a:solidFill>
            <a:srgbClr val="D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79" y="2331720"/>
            <a:ext cx="2880360" cy="274320"/>
          </a:xfrm>
          <a:prstGeom prst="rect">
            <a:avLst/>
          </a:prstGeom>
          <a:noFill/>
        </p:spPr>
        <p:txBody>
          <a:bodyPr wrap="square" lIns="0" tIns="0" rIns="0" bIns="0" anchor="t">
            <a:spAutoFit/>
          </a:bodyPr>
          <a:lstStyle/>
          <a:p>
            <a:pPr algn="l">
              <a:spcBef>
                <a:spcPts val="0"/>
              </a:spcBef>
              <a:spcAft>
                <a:spcPts val="0"/>
              </a:spcAft>
              <a:defRPr sz="1000" b="1" i="0">
                <a:solidFill>
                  <a:srgbClr val="239B78"/>
                </a:solidFill>
                <a:latin typeface="DejaVu Sans"/>
              </a:defRPr>
            </a:pPr>
            <a:r>
              <a:t>HOW IT COULD WORK</a:t>
            </a:r>
          </a:p>
        </p:txBody>
      </p:sp>
      <p:sp>
        <p:nvSpPr>
          <p:cNvPr id="12" name="TextBox 11"/>
          <p:cNvSpPr txBox="1"/>
          <p:nvPr/>
        </p:nvSpPr>
        <p:spPr>
          <a:xfrm>
            <a:off x="8183879" y="2816352"/>
            <a:ext cx="2743200" cy="219456"/>
          </a:xfrm>
          <a:prstGeom prst="rect">
            <a:avLst/>
          </a:prstGeom>
          <a:noFill/>
        </p:spPr>
        <p:txBody>
          <a:bodyPr wrap="square" lIns="0" tIns="0" rIns="0" bIns="0" anchor="t">
            <a:spAutoFit/>
          </a:bodyPr>
          <a:lstStyle/>
          <a:p>
            <a:pPr algn="l">
              <a:spcBef>
                <a:spcPts val="0"/>
              </a:spcBef>
              <a:spcAft>
                <a:spcPts val="0"/>
              </a:spcAft>
              <a:defRPr sz="930" b="1" i="0">
                <a:solidFill>
                  <a:srgbClr val="11162F"/>
                </a:solidFill>
                <a:latin typeface="DejaVu Sans"/>
              </a:defRPr>
            </a:pPr>
            <a:r>
              <a:t>01  FIND PARTNERS</a:t>
            </a:r>
          </a:p>
        </p:txBody>
      </p:sp>
      <p:sp>
        <p:nvSpPr>
          <p:cNvPr id="13" name="TextBox 12"/>
          <p:cNvSpPr txBox="1"/>
          <p:nvPr/>
        </p:nvSpPr>
        <p:spPr>
          <a:xfrm>
            <a:off x="8183879" y="3081528"/>
            <a:ext cx="2761488" cy="393192"/>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Local designers, boutiques or rental services.</a:t>
            </a:r>
          </a:p>
        </p:txBody>
      </p:sp>
      <p:sp>
        <p:nvSpPr>
          <p:cNvPr id="14" name="TextBox 13"/>
          <p:cNvSpPr txBox="1"/>
          <p:nvPr/>
        </p:nvSpPr>
        <p:spPr>
          <a:xfrm>
            <a:off x="8183879" y="3611880"/>
            <a:ext cx="2743200" cy="219456"/>
          </a:xfrm>
          <a:prstGeom prst="rect">
            <a:avLst/>
          </a:prstGeom>
          <a:noFill/>
        </p:spPr>
        <p:txBody>
          <a:bodyPr wrap="square" lIns="0" tIns="0" rIns="0" bIns="0" anchor="t">
            <a:spAutoFit/>
          </a:bodyPr>
          <a:lstStyle/>
          <a:p>
            <a:pPr algn="l">
              <a:spcBef>
                <a:spcPts val="0"/>
              </a:spcBef>
              <a:spcAft>
                <a:spcPts val="0"/>
              </a:spcAft>
              <a:defRPr sz="930" b="1" i="0">
                <a:solidFill>
                  <a:srgbClr val="11162F"/>
                </a:solidFill>
                <a:latin typeface="DejaVu Sans"/>
              </a:defRPr>
            </a:pPr>
            <a:r>
              <a:t>02  MAKE ACCESS EASY</a:t>
            </a:r>
          </a:p>
        </p:txBody>
      </p:sp>
      <p:sp>
        <p:nvSpPr>
          <p:cNvPr id="15" name="TextBox 14"/>
          <p:cNvSpPr txBox="1"/>
          <p:nvPr/>
        </p:nvSpPr>
        <p:spPr>
          <a:xfrm>
            <a:off x="8183879" y="3877056"/>
            <a:ext cx="2761488" cy="393192"/>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A simple way to borrow or rent an interview look.</a:t>
            </a:r>
          </a:p>
        </p:txBody>
      </p:sp>
      <p:sp>
        <p:nvSpPr>
          <p:cNvPr id="16" name="TextBox 15"/>
          <p:cNvSpPr txBox="1"/>
          <p:nvPr/>
        </p:nvSpPr>
        <p:spPr>
          <a:xfrm>
            <a:off x="8183879" y="4407408"/>
            <a:ext cx="2743200" cy="219456"/>
          </a:xfrm>
          <a:prstGeom prst="rect">
            <a:avLst/>
          </a:prstGeom>
          <a:noFill/>
        </p:spPr>
        <p:txBody>
          <a:bodyPr wrap="square" lIns="0" tIns="0" rIns="0" bIns="0" anchor="t">
            <a:spAutoFit/>
          </a:bodyPr>
          <a:lstStyle/>
          <a:p>
            <a:pPr algn="l">
              <a:spcBef>
                <a:spcPts val="0"/>
              </a:spcBef>
              <a:spcAft>
                <a:spcPts val="0"/>
              </a:spcAft>
              <a:defRPr sz="930" b="1" i="0">
                <a:solidFill>
                  <a:srgbClr val="11162F"/>
                </a:solidFill>
                <a:latin typeface="DejaVu Sans"/>
              </a:defRPr>
            </a:pPr>
            <a:r>
              <a:t>03  TELL THE STORY</a:t>
            </a:r>
          </a:p>
        </p:txBody>
      </p:sp>
      <p:sp>
        <p:nvSpPr>
          <p:cNvPr id="17" name="TextBox 16"/>
          <p:cNvSpPr txBox="1"/>
          <p:nvPr/>
        </p:nvSpPr>
        <p:spPr>
          <a:xfrm>
            <a:off x="8183879" y="4672584"/>
            <a:ext cx="2761488" cy="393192"/>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Show the person, the opportunity and the moment they step in.</a:t>
            </a:r>
          </a:p>
        </p:txBody>
      </p:sp>
      <p:sp>
        <p:nvSpPr>
          <p:cNvPr id="18" name="TextBox 17"/>
          <p:cNvSpPr txBox="1"/>
          <p:nvPr/>
        </p:nvSpPr>
        <p:spPr>
          <a:xfrm>
            <a:off x="749808" y="5239512"/>
            <a:ext cx="4114800" cy="210312"/>
          </a:xfrm>
          <a:prstGeom prst="rect">
            <a:avLst/>
          </a:prstGeom>
          <a:noFill/>
        </p:spPr>
        <p:txBody>
          <a:bodyPr wrap="square" lIns="0" tIns="0" rIns="0" bIns="0" anchor="t">
            <a:spAutoFit/>
          </a:bodyPr>
          <a:lstStyle/>
          <a:p>
            <a:pPr algn="l">
              <a:spcBef>
                <a:spcPts val="0"/>
              </a:spcBef>
              <a:spcAft>
                <a:spcPts val="0"/>
              </a:spcAft>
              <a:defRPr sz="900" b="0" i="1">
                <a:solidFill>
                  <a:srgbClr val="737A91"/>
                </a:solidFill>
                <a:latin typeface="DejaVu Sans"/>
              </a:defRPr>
            </a:pPr>
            <a:r>
              <a:t>Campaign concept, not an executed programme.</a:t>
            </a:r>
          </a:p>
        </p:txBody>
      </p:sp>
      <p:cxnSp>
        <p:nvCxnSpPr>
          <p:cNvPr id="19" name="Connector 18"/>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1" name="TextBox 20"/>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THREE ANSWERS</a:t>
            </a:r>
          </a:p>
        </p:txBody>
      </p:sp>
      <p:sp>
        <p:nvSpPr>
          <p:cNvPr id="22" name="TextBox 21"/>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04 /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F92BA"/>
                </a:solidFill>
                <a:latin typeface="DejaVu Sans"/>
              </a:defRPr>
            </a:pPr>
            <a:r>
              <a:t>THE THREAD THROUGH MY ANSWERS</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2900" b="1" i="0">
                <a:solidFill>
                  <a:srgbClr val="FFFFFF"/>
                </a:solidFill>
                <a:latin typeface="DejaVu Sans"/>
              </a:defRPr>
            </a:pPr>
            <a:r>
              <a:t>Notice what matters. Give people a way in.</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D8DBE7"/>
                </a:solidFill>
                <a:latin typeface="DejaVu Sans"/>
              </a:defRPr>
            </a:pPr>
            <a:r>
              <a:t>That is the same habit I bring to strategy and content work.</a:t>
            </a:r>
          </a:p>
        </p:txBody>
      </p:sp>
      <p:sp>
        <p:nvSpPr>
          <p:cNvPr id="6" name="Rounded Rectangle 5"/>
          <p:cNvSpPr/>
          <p:nvPr/>
        </p:nvSpPr>
        <p:spPr>
          <a:xfrm>
            <a:off x="713232" y="2514600"/>
            <a:ext cx="2496312" cy="2011680"/>
          </a:xfrm>
          <a:prstGeom prst="roundRect">
            <a:avLst>
              <a:gd name="adj" fmla="val 12000"/>
            </a:avLst>
          </a:prstGeom>
          <a:solidFill>
            <a:srgbClr val="1C2446"/>
          </a:solidFill>
          <a:ln w="12700">
            <a:solidFill>
              <a:srgbClr val="374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743200"/>
            <a:ext cx="566928" cy="457200"/>
          </a:xfrm>
          <a:prstGeom prst="rect">
            <a:avLst/>
          </a:prstGeom>
          <a:noFill/>
        </p:spPr>
        <p:txBody>
          <a:bodyPr wrap="square" lIns="0" tIns="0" rIns="0" bIns="0" anchor="t">
            <a:spAutoFit/>
          </a:bodyPr>
          <a:lstStyle/>
          <a:p>
            <a:pPr algn="l">
              <a:spcBef>
                <a:spcPts val="0"/>
              </a:spcBef>
              <a:spcAft>
                <a:spcPts val="0"/>
              </a:spcAft>
              <a:defRPr sz="2500" b="1" i="0">
                <a:solidFill>
                  <a:srgbClr val="FF92BA"/>
                </a:solidFill>
                <a:latin typeface="DejaVu Sans"/>
              </a:defRPr>
            </a:pPr>
            <a:r>
              <a:t>01</a:t>
            </a:r>
          </a:p>
        </p:txBody>
      </p:sp>
      <p:sp>
        <p:nvSpPr>
          <p:cNvPr id="8" name="TextBox 7"/>
          <p:cNvSpPr txBox="1"/>
          <p:nvPr/>
        </p:nvSpPr>
        <p:spPr>
          <a:xfrm>
            <a:off x="914400" y="3319272"/>
            <a:ext cx="2057400" cy="274320"/>
          </a:xfrm>
          <a:prstGeom prst="rect">
            <a:avLst/>
          </a:prstGeom>
          <a:noFill/>
        </p:spPr>
        <p:txBody>
          <a:bodyPr wrap="square" lIns="0" tIns="0" rIns="0" bIns="0" anchor="t">
            <a:spAutoFit/>
          </a:bodyPr>
          <a:lstStyle/>
          <a:p>
            <a:pPr algn="l">
              <a:spcBef>
                <a:spcPts val="0"/>
              </a:spcBef>
              <a:spcAft>
                <a:spcPts val="0"/>
              </a:spcAft>
              <a:defRPr sz="1100" b="1" i="0">
                <a:solidFill>
                  <a:srgbClr val="FFFFFF"/>
                </a:solidFill>
                <a:latin typeface="DejaVu Sans"/>
              </a:defRPr>
            </a:pPr>
            <a:r>
              <a:t>NOTICE</a:t>
            </a:r>
          </a:p>
        </p:txBody>
      </p:sp>
      <p:sp>
        <p:nvSpPr>
          <p:cNvPr id="9" name="TextBox 8"/>
          <p:cNvSpPr txBox="1"/>
          <p:nvPr/>
        </p:nvSpPr>
        <p:spPr>
          <a:xfrm>
            <a:off x="914400" y="3767328"/>
            <a:ext cx="2039112" cy="576072"/>
          </a:xfrm>
          <a:prstGeom prst="rect">
            <a:avLst/>
          </a:prstGeom>
          <a:noFill/>
        </p:spPr>
        <p:txBody>
          <a:bodyPr wrap="square" lIns="0" tIns="0" rIns="0" bIns="0" anchor="t">
            <a:spAutoFit/>
          </a:bodyPr>
          <a:lstStyle/>
          <a:p>
            <a:pPr algn="l">
              <a:spcBef>
                <a:spcPts val="0"/>
              </a:spcBef>
              <a:spcAft>
                <a:spcPts val="0"/>
              </a:spcAft>
              <a:defRPr sz="1200" b="0" i="0">
                <a:solidFill>
                  <a:srgbClr val="D7DCEB"/>
                </a:solidFill>
                <a:latin typeface="DejaVu Sans"/>
              </a:defRPr>
            </a:pPr>
            <a:r>
              <a:t>What is happening in people’s lives?</a:t>
            </a:r>
          </a:p>
        </p:txBody>
      </p:sp>
      <p:sp>
        <p:nvSpPr>
          <p:cNvPr id="10" name="TextBox 9"/>
          <p:cNvSpPr txBox="1"/>
          <p:nvPr/>
        </p:nvSpPr>
        <p:spPr>
          <a:xfrm>
            <a:off x="3255263" y="3310128"/>
            <a:ext cx="256032" cy="320040"/>
          </a:xfrm>
          <a:prstGeom prst="rect">
            <a:avLst/>
          </a:prstGeom>
          <a:noFill/>
        </p:spPr>
        <p:txBody>
          <a:bodyPr wrap="square" lIns="0" tIns="0" rIns="0" bIns="0" anchor="t">
            <a:spAutoFit/>
          </a:bodyPr>
          <a:lstStyle/>
          <a:p>
            <a:pPr algn="ctr">
              <a:spcBef>
                <a:spcPts val="0"/>
              </a:spcBef>
              <a:spcAft>
                <a:spcPts val="0"/>
              </a:spcAft>
              <a:defRPr sz="2000" b="1" i="0">
                <a:solidFill>
                  <a:srgbClr val="FF92BA"/>
                </a:solidFill>
                <a:latin typeface="DejaVu Sans"/>
              </a:defRPr>
            </a:pPr>
            <a:r>
              <a:t>→</a:t>
            </a:r>
          </a:p>
        </p:txBody>
      </p:sp>
      <p:sp>
        <p:nvSpPr>
          <p:cNvPr id="11" name="Rounded Rectangle 10"/>
          <p:cNvSpPr/>
          <p:nvPr/>
        </p:nvSpPr>
        <p:spPr>
          <a:xfrm>
            <a:off x="3575304" y="2514600"/>
            <a:ext cx="2496312" cy="2011680"/>
          </a:xfrm>
          <a:prstGeom prst="roundRect">
            <a:avLst>
              <a:gd name="adj" fmla="val 12000"/>
            </a:avLst>
          </a:prstGeom>
          <a:solidFill>
            <a:srgbClr val="1C2446"/>
          </a:solidFill>
          <a:ln w="12700">
            <a:solidFill>
              <a:srgbClr val="374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76472" y="2743200"/>
            <a:ext cx="566928" cy="457200"/>
          </a:xfrm>
          <a:prstGeom prst="rect">
            <a:avLst/>
          </a:prstGeom>
          <a:noFill/>
        </p:spPr>
        <p:txBody>
          <a:bodyPr wrap="square" lIns="0" tIns="0" rIns="0" bIns="0" anchor="t">
            <a:spAutoFit/>
          </a:bodyPr>
          <a:lstStyle/>
          <a:p>
            <a:pPr algn="l">
              <a:spcBef>
                <a:spcPts val="0"/>
              </a:spcBef>
              <a:spcAft>
                <a:spcPts val="0"/>
              </a:spcAft>
              <a:defRPr sz="2500" b="1" i="0">
                <a:solidFill>
                  <a:srgbClr val="82D8B9"/>
                </a:solidFill>
                <a:latin typeface="DejaVu Sans"/>
              </a:defRPr>
            </a:pPr>
            <a:r>
              <a:t>02</a:t>
            </a:r>
          </a:p>
        </p:txBody>
      </p:sp>
      <p:sp>
        <p:nvSpPr>
          <p:cNvPr id="13" name="TextBox 12"/>
          <p:cNvSpPr txBox="1"/>
          <p:nvPr/>
        </p:nvSpPr>
        <p:spPr>
          <a:xfrm>
            <a:off x="3776472" y="3319272"/>
            <a:ext cx="2057400" cy="274320"/>
          </a:xfrm>
          <a:prstGeom prst="rect">
            <a:avLst/>
          </a:prstGeom>
          <a:noFill/>
        </p:spPr>
        <p:txBody>
          <a:bodyPr wrap="square" lIns="0" tIns="0" rIns="0" bIns="0" anchor="t">
            <a:spAutoFit/>
          </a:bodyPr>
          <a:lstStyle/>
          <a:p>
            <a:pPr algn="l">
              <a:spcBef>
                <a:spcPts val="0"/>
              </a:spcBef>
              <a:spcAft>
                <a:spcPts val="0"/>
              </a:spcAft>
              <a:defRPr sz="1100" b="1" i="0">
                <a:solidFill>
                  <a:srgbClr val="FFFFFF"/>
                </a:solidFill>
                <a:latin typeface="DejaVu Sans"/>
              </a:defRPr>
            </a:pPr>
            <a:r>
              <a:t>FIND THE GAP</a:t>
            </a:r>
          </a:p>
        </p:txBody>
      </p:sp>
      <p:sp>
        <p:nvSpPr>
          <p:cNvPr id="14" name="TextBox 13"/>
          <p:cNvSpPr txBox="1"/>
          <p:nvPr/>
        </p:nvSpPr>
        <p:spPr>
          <a:xfrm>
            <a:off x="3776472" y="3767328"/>
            <a:ext cx="2039112" cy="576072"/>
          </a:xfrm>
          <a:prstGeom prst="rect">
            <a:avLst/>
          </a:prstGeom>
          <a:noFill/>
        </p:spPr>
        <p:txBody>
          <a:bodyPr wrap="square" lIns="0" tIns="0" rIns="0" bIns="0" anchor="t">
            <a:spAutoFit/>
          </a:bodyPr>
          <a:lstStyle/>
          <a:p>
            <a:pPr algn="l">
              <a:spcBef>
                <a:spcPts val="0"/>
              </a:spcBef>
              <a:spcAft>
                <a:spcPts val="0"/>
              </a:spcAft>
              <a:defRPr sz="1200" b="0" i="0">
                <a:solidFill>
                  <a:srgbClr val="D7DCEB"/>
                </a:solidFill>
                <a:latin typeface="DejaVu Sans"/>
              </a:defRPr>
            </a:pPr>
            <a:r>
              <a:t>What do they want, and what gets in the way?</a:t>
            </a:r>
          </a:p>
        </p:txBody>
      </p:sp>
      <p:sp>
        <p:nvSpPr>
          <p:cNvPr id="15" name="TextBox 14"/>
          <p:cNvSpPr txBox="1"/>
          <p:nvPr/>
        </p:nvSpPr>
        <p:spPr>
          <a:xfrm>
            <a:off x="6117336" y="3310128"/>
            <a:ext cx="256032" cy="320040"/>
          </a:xfrm>
          <a:prstGeom prst="rect">
            <a:avLst/>
          </a:prstGeom>
          <a:noFill/>
        </p:spPr>
        <p:txBody>
          <a:bodyPr wrap="square" lIns="0" tIns="0" rIns="0" bIns="0" anchor="t">
            <a:spAutoFit/>
          </a:bodyPr>
          <a:lstStyle/>
          <a:p>
            <a:pPr algn="ctr">
              <a:spcBef>
                <a:spcPts val="0"/>
              </a:spcBef>
              <a:spcAft>
                <a:spcPts val="0"/>
              </a:spcAft>
              <a:defRPr sz="2000" b="1" i="0">
                <a:solidFill>
                  <a:srgbClr val="FF92BA"/>
                </a:solidFill>
                <a:latin typeface="DejaVu Sans"/>
              </a:defRPr>
            </a:pPr>
            <a:r>
              <a:t>→</a:t>
            </a:r>
          </a:p>
        </p:txBody>
      </p:sp>
      <p:sp>
        <p:nvSpPr>
          <p:cNvPr id="16" name="Rounded Rectangle 15"/>
          <p:cNvSpPr/>
          <p:nvPr/>
        </p:nvSpPr>
        <p:spPr>
          <a:xfrm>
            <a:off x="6437376" y="2514600"/>
            <a:ext cx="2496312" cy="2011680"/>
          </a:xfrm>
          <a:prstGeom prst="roundRect">
            <a:avLst>
              <a:gd name="adj" fmla="val 12000"/>
            </a:avLst>
          </a:prstGeom>
          <a:solidFill>
            <a:srgbClr val="1C2446"/>
          </a:solidFill>
          <a:ln w="12700">
            <a:solidFill>
              <a:srgbClr val="374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38544" y="2743200"/>
            <a:ext cx="566928" cy="457200"/>
          </a:xfrm>
          <a:prstGeom prst="rect">
            <a:avLst/>
          </a:prstGeom>
          <a:noFill/>
        </p:spPr>
        <p:txBody>
          <a:bodyPr wrap="square" lIns="0" tIns="0" rIns="0" bIns="0" anchor="t">
            <a:spAutoFit/>
          </a:bodyPr>
          <a:lstStyle/>
          <a:p>
            <a:pPr algn="l">
              <a:spcBef>
                <a:spcPts val="0"/>
              </a:spcBef>
              <a:spcAft>
                <a:spcPts val="0"/>
              </a:spcAft>
              <a:defRPr sz="2500" b="1" i="0">
                <a:solidFill>
                  <a:srgbClr val="AAB5FF"/>
                </a:solidFill>
                <a:latin typeface="DejaVu Sans"/>
              </a:defRPr>
            </a:pPr>
            <a:r>
              <a:t>03</a:t>
            </a:r>
          </a:p>
        </p:txBody>
      </p:sp>
      <p:sp>
        <p:nvSpPr>
          <p:cNvPr id="18" name="TextBox 17"/>
          <p:cNvSpPr txBox="1"/>
          <p:nvPr/>
        </p:nvSpPr>
        <p:spPr>
          <a:xfrm>
            <a:off x="6638544" y="3319272"/>
            <a:ext cx="2057400" cy="274320"/>
          </a:xfrm>
          <a:prstGeom prst="rect">
            <a:avLst/>
          </a:prstGeom>
          <a:noFill/>
        </p:spPr>
        <p:txBody>
          <a:bodyPr wrap="square" lIns="0" tIns="0" rIns="0" bIns="0" anchor="t">
            <a:spAutoFit/>
          </a:bodyPr>
          <a:lstStyle/>
          <a:p>
            <a:pPr algn="l">
              <a:spcBef>
                <a:spcPts val="0"/>
              </a:spcBef>
              <a:spcAft>
                <a:spcPts val="0"/>
              </a:spcAft>
              <a:defRPr sz="1100" b="1" i="0">
                <a:solidFill>
                  <a:srgbClr val="FFFFFF"/>
                </a:solidFill>
                <a:latin typeface="DejaVu Sans"/>
              </a:defRPr>
            </a:pPr>
            <a:r>
              <a:t>SHAPE THE IDEA</a:t>
            </a:r>
          </a:p>
        </p:txBody>
      </p:sp>
      <p:sp>
        <p:nvSpPr>
          <p:cNvPr id="19" name="TextBox 18"/>
          <p:cNvSpPr txBox="1"/>
          <p:nvPr/>
        </p:nvSpPr>
        <p:spPr>
          <a:xfrm>
            <a:off x="6638544" y="3767328"/>
            <a:ext cx="2039112" cy="576072"/>
          </a:xfrm>
          <a:prstGeom prst="rect">
            <a:avLst/>
          </a:prstGeom>
          <a:noFill/>
        </p:spPr>
        <p:txBody>
          <a:bodyPr wrap="square" lIns="0" tIns="0" rIns="0" bIns="0" anchor="t">
            <a:spAutoFit/>
          </a:bodyPr>
          <a:lstStyle/>
          <a:p>
            <a:pPr algn="l">
              <a:spcBef>
                <a:spcPts val="0"/>
              </a:spcBef>
              <a:spcAft>
                <a:spcPts val="0"/>
              </a:spcAft>
              <a:defRPr sz="1200" b="0" i="0">
                <a:solidFill>
                  <a:srgbClr val="D7DCEB"/>
                </a:solidFill>
                <a:latin typeface="DejaVu Sans"/>
              </a:defRPr>
            </a:pPr>
            <a:r>
              <a:t>What can this brand credibly make or say?</a:t>
            </a:r>
          </a:p>
        </p:txBody>
      </p:sp>
      <p:sp>
        <p:nvSpPr>
          <p:cNvPr id="20" name="TextBox 19"/>
          <p:cNvSpPr txBox="1"/>
          <p:nvPr/>
        </p:nvSpPr>
        <p:spPr>
          <a:xfrm>
            <a:off x="8979408" y="3310128"/>
            <a:ext cx="256032" cy="320040"/>
          </a:xfrm>
          <a:prstGeom prst="rect">
            <a:avLst/>
          </a:prstGeom>
          <a:noFill/>
        </p:spPr>
        <p:txBody>
          <a:bodyPr wrap="square" lIns="0" tIns="0" rIns="0" bIns="0" anchor="t">
            <a:spAutoFit/>
          </a:bodyPr>
          <a:lstStyle/>
          <a:p>
            <a:pPr algn="ctr">
              <a:spcBef>
                <a:spcPts val="0"/>
              </a:spcBef>
              <a:spcAft>
                <a:spcPts val="0"/>
              </a:spcAft>
              <a:defRPr sz="2000" b="1" i="0">
                <a:solidFill>
                  <a:srgbClr val="FF92BA"/>
                </a:solidFill>
                <a:latin typeface="DejaVu Sans"/>
              </a:defRPr>
            </a:pPr>
            <a:r>
              <a:t>→</a:t>
            </a:r>
          </a:p>
        </p:txBody>
      </p:sp>
      <p:sp>
        <p:nvSpPr>
          <p:cNvPr id="21" name="Rounded Rectangle 20"/>
          <p:cNvSpPr/>
          <p:nvPr/>
        </p:nvSpPr>
        <p:spPr>
          <a:xfrm>
            <a:off x="9299448" y="2514600"/>
            <a:ext cx="2496312" cy="2011680"/>
          </a:xfrm>
          <a:prstGeom prst="roundRect">
            <a:avLst>
              <a:gd name="adj" fmla="val 12000"/>
            </a:avLst>
          </a:prstGeom>
          <a:solidFill>
            <a:srgbClr val="1C2446"/>
          </a:solidFill>
          <a:ln w="12700">
            <a:solidFill>
              <a:srgbClr val="374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00616" y="2743200"/>
            <a:ext cx="566928" cy="457200"/>
          </a:xfrm>
          <a:prstGeom prst="rect">
            <a:avLst/>
          </a:prstGeom>
          <a:noFill/>
        </p:spPr>
        <p:txBody>
          <a:bodyPr wrap="square" lIns="0" tIns="0" rIns="0" bIns="0" anchor="t">
            <a:spAutoFit/>
          </a:bodyPr>
          <a:lstStyle/>
          <a:p>
            <a:pPr algn="l">
              <a:spcBef>
                <a:spcPts val="0"/>
              </a:spcBef>
              <a:spcAft>
                <a:spcPts val="0"/>
              </a:spcAft>
              <a:defRPr sz="2500" b="1" i="0">
                <a:solidFill>
                  <a:srgbClr val="FF92BA"/>
                </a:solidFill>
                <a:latin typeface="DejaVu Sans"/>
              </a:defRPr>
            </a:pPr>
            <a:r>
              <a:t>04</a:t>
            </a:r>
          </a:p>
        </p:txBody>
      </p:sp>
      <p:sp>
        <p:nvSpPr>
          <p:cNvPr id="23" name="TextBox 22"/>
          <p:cNvSpPr txBox="1"/>
          <p:nvPr/>
        </p:nvSpPr>
        <p:spPr>
          <a:xfrm>
            <a:off x="9500616" y="3319272"/>
            <a:ext cx="2057400" cy="274320"/>
          </a:xfrm>
          <a:prstGeom prst="rect">
            <a:avLst/>
          </a:prstGeom>
          <a:noFill/>
        </p:spPr>
        <p:txBody>
          <a:bodyPr wrap="square" lIns="0" tIns="0" rIns="0" bIns="0" anchor="t">
            <a:spAutoFit/>
          </a:bodyPr>
          <a:lstStyle/>
          <a:p>
            <a:pPr algn="l">
              <a:spcBef>
                <a:spcPts val="0"/>
              </a:spcBef>
              <a:spcAft>
                <a:spcPts val="0"/>
              </a:spcAft>
              <a:defRPr sz="1100" b="1" i="0">
                <a:solidFill>
                  <a:srgbClr val="FFFFFF"/>
                </a:solidFill>
                <a:latin typeface="DejaVu Sans"/>
              </a:defRPr>
            </a:pPr>
            <a:r>
              <a:t>BUILD THE ROUTE</a:t>
            </a:r>
          </a:p>
        </p:txBody>
      </p:sp>
      <p:sp>
        <p:nvSpPr>
          <p:cNvPr id="24" name="TextBox 23"/>
          <p:cNvSpPr txBox="1"/>
          <p:nvPr/>
        </p:nvSpPr>
        <p:spPr>
          <a:xfrm>
            <a:off x="9500616" y="3767328"/>
            <a:ext cx="2039112" cy="576072"/>
          </a:xfrm>
          <a:prstGeom prst="rect">
            <a:avLst/>
          </a:prstGeom>
          <a:noFill/>
        </p:spPr>
        <p:txBody>
          <a:bodyPr wrap="square" lIns="0" tIns="0" rIns="0" bIns="0" anchor="t">
            <a:spAutoFit/>
          </a:bodyPr>
          <a:lstStyle/>
          <a:p>
            <a:pPr algn="l">
              <a:spcBef>
                <a:spcPts val="0"/>
              </a:spcBef>
              <a:spcAft>
                <a:spcPts val="0"/>
              </a:spcAft>
              <a:defRPr sz="1200" b="0" i="0">
                <a:solidFill>
                  <a:srgbClr val="D7DCEB"/>
                </a:solidFill>
                <a:latin typeface="DejaVu Sans"/>
              </a:defRPr>
            </a:pPr>
            <a:r>
              <a:t>How does the idea become a campaign or system?</a:t>
            </a:r>
          </a:p>
        </p:txBody>
      </p:sp>
      <p:sp>
        <p:nvSpPr>
          <p:cNvPr id="25" name="TextBox 24"/>
          <p:cNvSpPr txBox="1"/>
          <p:nvPr/>
        </p:nvSpPr>
        <p:spPr>
          <a:xfrm>
            <a:off x="731520" y="5120640"/>
            <a:ext cx="8229600" cy="384048"/>
          </a:xfrm>
          <a:prstGeom prst="rect">
            <a:avLst/>
          </a:prstGeom>
          <a:noFill/>
        </p:spPr>
        <p:txBody>
          <a:bodyPr wrap="square" lIns="0" tIns="0" rIns="0" bIns="0" anchor="t">
            <a:spAutoFit/>
          </a:bodyPr>
          <a:lstStyle/>
          <a:p>
            <a:pPr algn="l">
              <a:spcBef>
                <a:spcPts val="0"/>
              </a:spcBef>
              <a:spcAft>
                <a:spcPts val="0"/>
              </a:spcAft>
              <a:defRPr sz="1800" b="1" i="0">
                <a:solidFill>
                  <a:srgbClr val="FFFFFF"/>
                </a:solidFill>
                <a:latin typeface="DejaVu Sans"/>
              </a:defRPr>
            </a:pPr>
            <a:r>
              <a:t>The post is usually the last visible part of the thinking.</a:t>
            </a:r>
          </a:p>
        </p:txBody>
      </p:sp>
      <p:cxnSp>
        <p:nvCxnSpPr>
          <p:cNvPr id="26" name="Connector 25"/>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28" name="TextBox 27"/>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HOW I THINK</a:t>
            </a:r>
          </a:p>
        </p:txBody>
      </p:sp>
      <p:sp>
        <p:nvSpPr>
          <p:cNvPr id="29" name="TextBox 28"/>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05 /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INTRODUCTION</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I build the thinking behind the message.</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Brand strategy  /  Content strategy  /  Campaign thinking</a:t>
            </a:r>
          </a:p>
        </p:txBody>
      </p:sp>
      <p:sp>
        <p:nvSpPr>
          <p:cNvPr id="6" name="TextBox 5"/>
          <p:cNvSpPr txBox="1"/>
          <p:nvPr/>
        </p:nvSpPr>
        <p:spPr>
          <a:xfrm>
            <a:off x="713232" y="2057400"/>
            <a:ext cx="6446520" cy="1234440"/>
          </a:xfrm>
          <a:prstGeom prst="rect">
            <a:avLst/>
          </a:prstGeom>
          <a:noFill/>
        </p:spPr>
        <p:txBody>
          <a:bodyPr wrap="square" lIns="0" tIns="0" rIns="0" bIns="0" anchor="t">
            <a:spAutoFit/>
          </a:bodyPr>
          <a:lstStyle/>
          <a:p>
            <a:pPr algn="l">
              <a:spcBef>
                <a:spcPts val="0"/>
              </a:spcBef>
              <a:spcAft>
                <a:spcPts val="0"/>
              </a:spcAft>
              <a:defRPr sz="1900" b="0" i="0">
                <a:solidFill>
                  <a:srgbClr val="1A2038"/>
                </a:solidFill>
                <a:latin typeface="DejaVu Sans"/>
              </a:defRPr>
            </a:pPr>
            <a:r>
              <a:t>I look for the audience truth, the business need and the moment they meet. Then I turn that into a point of view, an idea people can recognise and a system a team can use.</a:t>
            </a:r>
          </a:p>
        </p:txBody>
      </p:sp>
      <p:sp>
        <p:nvSpPr>
          <p:cNvPr id="7" name="TextBox 6"/>
          <p:cNvSpPr txBox="1"/>
          <p:nvPr/>
        </p:nvSpPr>
        <p:spPr>
          <a:xfrm>
            <a:off x="713232" y="3584448"/>
            <a:ext cx="6446520" cy="1188720"/>
          </a:xfrm>
          <a:prstGeom prst="rect">
            <a:avLst/>
          </a:prstGeom>
          <a:noFill/>
        </p:spPr>
        <p:txBody>
          <a:bodyPr wrap="square" lIns="0" tIns="0" rIns="0" bIns="0" anchor="t">
            <a:spAutoFit/>
          </a:bodyPr>
          <a:lstStyle/>
          <a:p>
            <a:pPr algn="l">
              <a:spcBef>
                <a:spcPts val="0"/>
              </a:spcBef>
              <a:spcAft>
                <a:spcPts val="0"/>
              </a:spcAft>
              <a:defRPr sz="1700" b="0" i="0">
                <a:solidFill>
                  <a:srgbClr val="1A2038"/>
                </a:solidFill>
                <a:latin typeface="DejaVu Sans"/>
              </a:defRPr>
            </a:pPr>
            <a:r>
              <a:t>My work has moved across relaunches, founder and client communication, audience campaigns, learning products and brand systems. The through-line is asking what people need to understand, feel or do next.</a:t>
            </a:r>
          </a:p>
        </p:txBody>
      </p:sp>
      <p:sp>
        <p:nvSpPr>
          <p:cNvPr id="8" name="Rounded Rectangle 7"/>
          <p:cNvSpPr/>
          <p:nvPr/>
        </p:nvSpPr>
        <p:spPr>
          <a:xfrm>
            <a:off x="7744968" y="2039112"/>
            <a:ext cx="3703320" cy="3355848"/>
          </a:xfrm>
          <a:prstGeom prst="roundRect">
            <a:avLst>
              <a:gd name="adj" fmla="val 12000"/>
            </a:avLst>
          </a:prstGeom>
          <a:solidFill>
            <a:srgbClr val="E6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92440" y="2359152"/>
            <a:ext cx="2743200" cy="274320"/>
          </a:xfrm>
          <a:prstGeom prst="rect">
            <a:avLst/>
          </a:prstGeom>
          <a:noFill/>
        </p:spPr>
        <p:txBody>
          <a:bodyPr wrap="square" lIns="0" tIns="0" rIns="0" bIns="0" anchor="t">
            <a:spAutoFit/>
          </a:bodyPr>
          <a:lstStyle/>
          <a:p>
            <a:pPr algn="l">
              <a:spcBef>
                <a:spcPts val="0"/>
              </a:spcBef>
              <a:spcAft>
                <a:spcPts val="0"/>
              </a:spcAft>
              <a:defRPr sz="1000" b="1" i="0">
                <a:solidFill>
                  <a:srgbClr val="4657E8"/>
                </a:solidFill>
                <a:latin typeface="DejaVu Sans"/>
              </a:defRPr>
            </a:pPr>
            <a:r>
              <a:t>WHAT I BRING</a:t>
            </a:r>
          </a:p>
        </p:txBody>
      </p:sp>
      <p:sp>
        <p:nvSpPr>
          <p:cNvPr id="10" name="Oval 9"/>
          <p:cNvSpPr/>
          <p:nvPr/>
        </p:nvSpPr>
        <p:spPr>
          <a:xfrm>
            <a:off x="8110727" y="2889504"/>
            <a:ext cx="146304" cy="146304"/>
          </a:xfrm>
          <a:prstGeom prst="ellipse">
            <a:avLst/>
          </a:prstGeom>
          <a:solidFill>
            <a:srgbClr val="F06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94192" y="2852928"/>
            <a:ext cx="2606040" cy="274320"/>
          </a:xfrm>
          <a:prstGeom prst="rect">
            <a:avLst/>
          </a:prstGeom>
          <a:noFill/>
        </p:spPr>
        <p:txBody>
          <a:bodyPr wrap="square" lIns="0" tIns="0" rIns="0" bIns="0" anchor="t">
            <a:spAutoFit/>
          </a:bodyPr>
          <a:lstStyle/>
          <a:p>
            <a:pPr algn="l">
              <a:spcBef>
                <a:spcPts val="0"/>
              </a:spcBef>
              <a:spcAft>
                <a:spcPts val="0"/>
              </a:spcAft>
              <a:defRPr sz="1200" b="0" i="0">
                <a:solidFill>
                  <a:srgbClr val="1A2038"/>
                </a:solidFill>
                <a:latin typeface="DejaVu Sans"/>
              </a:defRPr>
            </a:pPr>
            <a:r>
              <a:t>Audience and culture research</a:t>
            </a:r>
          </a:p>
        </p:txBody>
      </p:sp>
      <p:sp>
        <p:nvSpPr>
          <p:cNvPr id="12" name="Oval 11"/>
          <p:cNvSpPr/>
          <p:nvPr/>
        </p:nvSpPr>
        <p:spPr>
          <a:xfrm>
            <a:off x="8110727" y="3328416"/>
            <a:ext cx="146304" cy="146304"/>
          </a:xfrm>
          <a:prstGeom prst="ellipse">
            <a:avLst/>
          </a:prstGeom>
          <a:solidFill>
            <a:srgbClr val="239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94192" y="3291840"/>
            <a:ext cx="2606040" cy="274320"/>
          </a:xfrm>
          <a:prstGeom prst="rect">
            <a:avLst/>
          </a:prstGeom>
          <a:noFill/>
        </p:spPr>
        <p:txBody>
          <a:bodyPr wrap="square" lIns="0" tIns="0" rIns="0" bIns="0" anchor="t">
            <a:spAutoFit/>
          </a:bodyPr>
          <a:lstStyle/>
          <a:p>
            <a:pPr algn="l">
              <a:spcBef>
                <a:spcPts val="0"/>
              </a:spcBef>
              <a:spcAft>
                <a:spcPts val="0"/>
              </a:spcAft>
              <a:defRPr sz="1200" b="0" i="0">
                <a:solidFill>
                  <a:srgbClr val="1A2038"/>
                </a:solidFill>
                <a:latin typeface="DejaVu Sans"/>
              </a:defRPr>
            </a:pPr>
            <a:r>
              <a:t>Brand and content direction</a:t>
            </a:r>
          </a:p>
        </p:txBody>
      </p:sp>
      <p:sp>
        <p:nvSpPr>
          <p:cNvPr id="14" name="Oval 13"/>
          <p:cNvSpPr/>
          <p:nvPr/>
        </p:nvSpPr>
        <p:spPr>
          <a:xfrm>
            <a:off x="8110727" y="3767328"/>
            <a:ext cx="146304" cy="146304"/>
          </a:xfrm>
          <a:prstGeom prst="ellipse">
            <a:avLst/>
          </a:prstGeom>
          <a:solidFill>
            <a:srgbClr val="465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94192" y="3730752"/>
            <a:ext cx="2606040" cy="274320"/>
          </a:xfrm>
          <a:prstGeom prst="rect">
            <a:avLst/>
          </a:prstGeom>
          <a:noFill/>
        </p:spPr>
        <p:txBody>
          <a:bodyPr wrap="square" lIns="0" tIns="0" rIns="0" bIns="0" anchor="t">
            <a:spAutoFit/>
          </a:bodyPr>
          <a:lstStyle/>
          <a:p>
            <a:pPr algn="l">
              <a:spcBef>
                <a:spcPts val="0"/>
              </a:spcBef>
              <a:spcAft>
                <a:spcPts val="0"/>
              </a:spcAft>
              <a:defRPr sz="1200" b="0" i="0">
                <a:solidFill>
                  <a:srgbClr val="1A2038"/>
                </a:solidFill>
                <a:latin typeface="DejaVu Sans"/>
              </a:defRPr>
            </a:pPr>
            <a:r>
              <a:t>Campaign concepts and briefs</a:t>
            </a:r>
          </a:p>
        </p:txBody>
      </p:sp>
      <p:sp>
        <p:nvSpPr>
          <p:cNvPr id="16" name="Oval 15"/>
          <p:cNvSpPr/>
          <p:nvPr/>
        </p:nvSpPr>
        <p:spPr>
          <a:xfrm>
            <a:off x="8110727" y="4206240"/>
            <a:ext cx="146304" cy="146304"/>
          </a:xfrm>
          <a:prstGeom prst="ellipse">
            <a:avLst/>
          </a:prstGeom>
          <a:solidFill>
            <a:srgbClr val="F06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94192" y="4169664"/>
            <a:ext cx="2606040" cy="274320"/>
          </a:xfrm>
          <a:prstGeom prst="rect">
            <a:avLst/>
          </a:prstGeom>
          <a:noFill/>
        </p:spPr>
        <p:txBody>
          <a:bodyPr wrap="square" lIns="0" tIns="0" rIns="0" bIns="0" anchor="t">
            <a:spAutoFit/>
          </a:bodyPr>
          <a:lstStyle/>
          <a:p>
            <a:pPr algn="l">
              <a:spcBef>
                <a:spcPts val="0"/>
              </a:spcBef>
              <a:spcAft>
                <a:spcPts val="0"/>
              </a:spcAft>
              <a:defRPr sz="1200" b="0" i="0">
                <a:solidFill>
                  <a:srgbClr val="1A2038"/>
                </a:solidFill>
                <a:latin typeface="DejaVu Sans"/>
              </a:defRPr>
            </a:pPr>
            <a:r>
              <a:t>Content territories and formats</a:t>
            </a:r>
          </a:p>
        </p:txBody>
      </p:sp>
      <p:sp>
        <p:nvSpPr>
          <p:cNvPr id="18" name="Oval 17"/>
          <p:cNvSpPr/>
          <p:nvPr/>
        </p:nvSpPr>
        <p:spPr>
          <a:xfrm>
            <a:off x="8110727" y="4645152"/>
            <a:ext cx="146304" cy="146304"/>
          </a:xfrm>
          <a:prstGeom prst="ellipse">
            <a:avLst/>
          </a:prstGeom>
          <a:solidFill>
            <a:srgbClr val="239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4192" y="4608576"/>
            <a:ext cx="2606040" cy="274320"/>
          </a:xfrm>
          <a:prstGeom prst="rect">
            <a:avLst/>
          </a:prstGeom>
          <a:noFill/>
        </p:spPr>
        <p:txBody>
          <a:bodyPr wrap="square" lIns="0" tIns="0" rIns="0" bIns="0" anchor="t">
            <a:spAutoFit/>
          </a:bodyPr>
          <a:lstStyle/>
          <a:p>
            <a:pPr algn="l">
              <a:spcBef>
                <a:spcPts val="0"/>
              </a:spcBef>
              <a:spcAft>
                <a:spcPts val="0"/>
              </a:spcAft>
              <a:defRPr sz="1200" b="0" i="0">
                <a:solidFill>
                  <a:srgbClr val="1A2038"/>
                </a:solidFill>
                <a:latin typeface="DejaVu Sans"/>
              </a:defRPr>
            </a:pPr>
            <a:r>
              <a:t>Clear client and team communication</a:t>
            </a:r>
          </a:p>
        </p:txBody>
      </p:sp>
      <p:cxnSp>
        <p:nvCxnSpPr>
          <p:cNvPr id="20" name="Connector 19"/>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2" name="TextBox 21"/>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ABOUT</a:t>
            </a:r>
          </a:p>
        </p:txBody>
      </p:sp>
      <p:sp>
        <p:nvSpPr>
          <p:cNvPr id="23" name="TextBox 22"/>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06 / 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A FEW CHAPTERS</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Different briefs. The same curiosity.</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Selected experience from 2021 to 2026.</a:t>
            </a:r>
          </a:p>
        </p:txBody>
      </p:sp>
      <p:cxnSp>
        <p:nvCxnSpPr>
          <p:cNvPr id="6" name="Connector 5"/>
          <p:cNvCxnSpPr/>
          <p:nvPr/>
        </p:nvCxnSpPr>
        <p:spPr>
          <a:xfrm>
            <a:off x="1005840" y="3474720"/>
            <a:ext cx="10149840" cy="0"/>
          </a:xfrm>
          <a:prstGeom prst="line">
            <a:avLst/>
          </a:prstGeom>
          <a:ln w="25400">
            <a:solidFill>
              <a:srgbClr val="C8CDE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79576" y="3310128"/>
            <a:ext cx="310896" cy="310896"/>
          </a:xfrm>
          <a:prstGeom prst="ellipse">
            <a:avLst/>
          </a:prstGeom>
          <a:solidFill>
            <a:srgbClr val="F06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flipV="1">
            <a:off x="1335024" y="3108960"/>
            <a:ext cx="0" cy="365760"/>
          </a:xfrm>
          <a:prstGeom prst="line">
            <a:avLst/>
          </a:prstGeom>
          <a:ln w="15240">
            <a:solidFill>
              <a:srgbClr val="F0609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2240280"/>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F0609B"/>
                </a:solidFill>
                <a:latin typeface="DejaVu Sans"/>
              </a:defRPr>
            </a:pPr>
            <a:r>
              <a:t>2021</a:t>
            </a:r>
          </a:p>
        </p:txBody>
      </p:sp>
      <p:sp>
        <p:nvSpPr>
          <p:cNvPr id="10" name="TextBox 9"/>
          <p:cNvSpPr txBox="1"/>
          <p:nvPr/>
        </p:nvSpPr>
        <p:spPr>
          <a:xfrm>
            <a:off x="621792" y="258775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Bechi’s Stitches</a:t>
            </a:r>
          </a:p>
        </p:txBody>
      </p:sp>
      <p:sp>
        <p:nvSpPr>
          <p:cNvPr id="11" name="TextBox 10"/>
          <p:cNvSpPr txBox="1"/>
          <p:nvPr/>
        </p:nvSpPr>
        <p:spPr>
          <a:xfrm>
            <a:off x="621792" y="299008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Brand growth</a:t>
            </a:r>
          </a:p>
        </p:txBody>
      </p:sp>
      <p:sp>
        <p:nvSpPr>
          <p:cNvPr id="12" name="Oval 11"/>
          <p:cNvSpPr/>
          <p:nvPr/>
        </p:nvSpPr>
        <p:spPr>
          <a:xfrm>
            <a:off x="2843784" y="3310128"/>
            <a:ext cx="310896" cy="310896"/>
          </a:xfrm>
          <a:prstGeom prst="ellipse">
            <a:avLst/>
          </a:prstGeom>
          <a:solidFill>
            <a:srgbClr val="239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2999232" y="3474720"/>
            <a:ext cx="0" cy="338328"/>
          </a:xfrm>
          <a:prstGeom prst="line">
            <a:avLst/>
          </a:prstGeom>
          <a:ln w="15240">
            <a:solidFill>
              <a:srgbClr val="239B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395728" y="3977639"/>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239B78"/>
                </a:solidFill>
                <a:latin typeface="DejaVu Sans"/>
              </a:defRPr>
            </a:pPr>
            <a:r>
              <a:t>2022–25</a:t>
            </a:r>
          </a:p>
        </p:txBody>
      </p:sp>
      <p:sp>
        <p:nvSpPr>
          <p:cNvPr id="15" name="TextBox 14"/>
          <p:cNvSpPr txBox="1"/>
          <p:nvPr/>
        </p:nvSpPr>
        <p:spPr>
          <a:xfrm>
            <a:off x="2286000" y="432511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AIESEC</a:t>
            </a:r>
          </a:p>
        </p:txBody>
      </p:sp>
      <p:sp>
        <p:nvSpPr>
          <p:cNvPr id="16" name="TextBox 15"/>
          <p:cNvSpPr txBox="1"/>
          <p:nvPr/>
        </p:nvSpPr>
        <p:spPr>
          <a:xfrm>
            <a:off x="2286000" y="472744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Campaigns</a:t>
            </a:r>
          </a:p>
        </p:txBody>
      </p:sp>
      <p:sp>
        <p:nvSpPr>
          <p:cNvPr id="17" name="Oval 16"/>
          <p:cNvSpPr/>
          <p:nvPr/>
        </p:nvSpPr>
        <p:spPr>
          <a:xfrm>
            <a:off x="4507992" y="3310128"/>
            <a:ext cx="310896" cy="310896"/>
          </a:xfrm>
          <a:prstGeom prst="ellipse">
            <a:avLst/>
          </a:prstGeom>
          <a:solidFill>
            <a:srgbClr val="465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4663440" y="3108960"/>
            <a:ext cx="0" cy="365760"/>
          </a:xfrm>
          <a:prstGeom prst="line">
            <a:avLst/>
          </a:prstGeom>
          <a:ln w="15240">
            <a:solidFill>
              <a:srgbClr val="4657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59936" y="2240280"/>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4657E8"/>
                </a:solidFill>
                <a:latin typeface="DejaVu Sans"/>
              </a:defRPr>
            </a:pPr>
            <a:r>
              <a:t>2023</a:t>
            </a:r>
          </a:p>
        </p:txBody>
      </p:sp>
      <p:sp>
        <p:nvSpPr>
          <p:cNvPr id="20" name="TextBox 19"/>
          <p:cNvSpPr txBox="1"/>
          <p:nvPr/>
        </p:nvSpPr>
        <p:spPr>
          <a:xfrm>
            <a:off x="3950208" y="258775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Ovalay</a:t>
            </a:r>
          </a:p>
        </p:txBody>
      </p:sp>
      <p:sp>
        <p:nvSpPr>
          <p:cNvPr id="21" name="TextBox 20"/>
          <p:cNvSpPr txBox="1"/>
          <p:nvPr/>
        </p:nvSpPr>
        <p:spPr>
          <a:xfrm>
            <a:off x="3950208" y="299008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Re-entry</a:t>
            </a:r>
          </a:p>
        </p:txBody>
      </p:sp>
      <p:sp>
        <p:nvSpPr>
          <p:cNvPr id="22" name="Oval 21"/>
          <p:cNvSpPr/>
          <p:nvPr/>
        </p:nvSpPr>
        <p:spPr>
          <a:xfrm>
            <a:off x="6172200" y="3310128"/>
            <a:ext cx="310896" cy="310896"/>
          </a:xfrm>
          <a:prstGeom prst="ellipse">
            <a:avLst/>
          </a:prstGeom>
          <a:solidFill>
            <a:srgbClr val="F06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6327648" y="3474720"/>
            <a:ext cx="0" cy="338328"/>
          </a:xfrm>
          <a:prstGeom prst="line">
            <a:avLst/>
          </a:prstGeom>
          <a:ln w="15240">
            <a:solidFill>
              <a:srgbClr val="F0609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724144" y="3977639"/>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F0609B"/>
                </a:solidFill>
                <a:latin typeface="DejaVu Sans"/>
              </a:defRPr>
            </a:pPr>
            <a:r>
              <a:t>Jan 2024</a:t>
            </a:r>
          </a:p>
        </p:txBody>
      </p:sp>
      <p:sp>
        <p:nvSpPr>
          <p:cNvPr id="25" name="TextBox 24"/>
          <p:cNvSpPr txBox="1"/>
          <p:nvPr/>
        </p:nvSpPr>
        <p:spPr>
          <a:xfrm>
            <a:off x="5614416" y="432511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Hawksworth</a:t>
            </a:r>
          </a:p>
        </p:txBody>
      </p:sp>
      <p:sp>
        <p:nvSpPr>
          <p:cNvPr id="26" name="TextBox 25"/>
          <p:cNvSpPr txBox="1"/>
          <p:nvPr/>
        </p:nvSpPr>
        <p:spPr>
          <a:xfrm>
            <a:off x="5614416" y="472744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Research + content</a:t>
            </a:r>
          </a:p>
        </p:txBody>
      </p:sp>
      <p:sp>
        <p:nvSpPr>
          <p:cNvPr id="27" name="Oval 26"/>
          <p:cNvSpPr/>
          <p:nvPr/>
        </p:nvSpPr>
        <p:spPr>
          <a:xfrm>
            <a:off x="7836408" y="3310128"/>
            <a:ext cx="310896" cy="310896"/>
          </a:xfrm>
          <a:prstGeom prst="ellipse">
            <a:avLst/>
          </a:prstGeom>
          <a:solidFill>
            <a:srgbClr val="239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V="1">
            <a:off x="7991856" y="3108960"/>
            <a:ext cx="0" cy="365760"/>
          </a:xfrm>
          <a:prstGeom prst="line">
            <a:avLst/>
          </a:prstGeom>
          <a:ln w="15240">
            <a:solidFill>
              <a:srgbClr val="239B7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88352" y="2240280"/>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239B78"/>
                </a:solidFill>
                <a:latin typeface="DejaVu Sans"/>
              </a:defRPr>
            </a:pPr>
            <a:r>
              <a:t>2025</a:t>
            </a:r>
          </a:p>
        </p:txBody>
      </p:sp>
      <p:sp>
        <p:nvSpPr>
          <p:cNvPr id="30" name="TextBox 29"/>
          <p:cNvSpPr txBox="1"/>
          <p:nvPr/>
        </p:nvSpPr>
        <p:spPr>
          <a:xfrm>
            <a:off x="7278624" y="258775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Tony &amp; Co</a:t>
            </a:r>
          </a:p>
        </p:txBody>
      </p:sp>
      <p:sp>
        <p:nvSpPr>
          <p:cNvPr id="31" name="TextBox 30"/>
          <p:cNvSpPr txBox="1"/>
          <p:nvPr/>
        </p:nvSpPr>
        <p:spPr>
          <a:xfrm>
            <a:off x="7278624" y="299008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Operations + clients</a:t>
            </a:r>
          </a:p>
        </p:txBody>
      </p:sp>
      <p:sp>
        <p:nvSpPr>
          <p:cNvPr id="32" name="Oval 31"/>
          <p:cNvSpPr/>
          <p:nvPr/>
        </p:nvSpPr>
        <p:spPr>
          <a:xfrm>
            <a:off x="9500616" y="3310128"/>
            <a:ext cx="310896" cy="310896"/>
          </a:xfrm>
          <a:prstGeom prst="ellipse">
            <a:avLst/>
          </a:prstGeom>
          <a:solidFill>
            <a:srgbClr val="465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9656064" y="3474720"/>
            <a:ext cx="0" cy="338328"/>
          </a:xfrm>
          <a:prstGeom prst="line">
            <a:avLst/>
          </a:prstGeom>
          <a:ln w="15240">
            <a:solidFill>
              <a:srgbClr val="4657E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52560" y="3977639"/>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4657E8"/>
                </a:solidFill>
                <a:latin typeface="DejaVu Sans"/>
              </a:defRPr>
            </a:pPr>
            <a:r>
              <a:t>2025</a:t>
            </a:r>
          </a:p>
        </p:txBody>
      </p:sp>
      <p:sp>
        <p:nvSpPr>
          <p:cNvPr id="35" name="TextBox 34"/>
          <p:cNvSpPr txBox="1"/>
          <p:nvPr/>
        </p:nvSpPr>
        <p:spPr>
          <a:xfrm>
            <a:off x="8942832" y="432511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Marketing Mastery</a:t>
            </a:r>
          </a:p>
        </p:txBody>
      </p:sp>
      <p:sp>
        <p:nvSpPr>
          <p:cNvPr id="36" name="TextBox 35"/>
          <p:cNvSpPr txBox="1"/>
          <p:nvPr/>
        </p:nvSpPr>
        <p:spPr>
          <a:xfrm>
            <a:off x="8942832" y="472744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Course design</a:t>
            </a:r>
          </a:p>
        </p:txBody>
      </p:sp>
      <p:sp>
        <p:nvSpPr>
          <p:cNvPr id="37" name="Oval 36"/>
          <p:cNvSpPr/>
          <p:nvPr/>
        </p:nvSpPr>
        <p:spPr>
          <a:xfrm>
            <a:off x="11164824" y="3310128"/>
            <a:ext cx="310896" cy="310896"/>
          </a:xfrm>
          <a:prstGeom prst="ellipse">
            <a:avLst/>
          </a:prstGeom>
          <a:solidFill>
            <a:srgbClr val="F06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V="1">
            <a:off x="11320272" y="3108960"/>
            <a:ext cx="0" cy="365760"/>
          </a:xfrm>
          <a:prstGeom prst="line">
            <a:avLst/>
          </a:prstGeom>
          <a:ln w="15240">
            <a:solidFill>
              <a:srgbClr val="F0609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16768" y="2240280"/>
            <a:ext cx="1280160" cy="274320"/>
          </a:xfrm>
          <a:prstGeom prst="rect">
            <a:avLst/>
          </a:prstGeom>
          <a:noFill/>
        </p:spPr>
        <p:txBody>
          <a:bodyPr wrap="square" lIns="0" tIns="0" rIns="0" bIns="0" anchor="t">
            <a:spAutoFit/>
          </a:bodyPr>
          <a:lstStyle/>
          <a:p>
            <a:pPr algn="ctr">
              <a:spcBef>
                <a:spcPts val="0"/>
              </a:spcBef>
              <a:spcAft>
                <a:spcPts val="0"/>
              </a:spcAft>
              <a:defRPr sz="1100" b="1" i="0">
                <a:solidFill>
                  <a:srgbClr val="F0609B"/>
                </a:solidFill>
                <a:latin typeface="DejaVu Sans"/>
              </a:defRPr>
            </a:pPr>
            <a:r>
              <a:t>2026</a:t>
            </a:r>
          </a:p>
        </p:txBody>
      </p:sp>
      <p:sp>
        <p:nvSpPr>
          <p:cNvPr id="40" name="TextBox 39"/>
          <p:cNvSpPr txBox="1"/>
          <p:nvPr/>
        </p:nvSpPr>
        <p:spPr>
          <a:xfrm>
            <a:off x="10607040" y="2587752"/>
            <a:ext cx="1490472" cy="402336"/>
          </a:xfrm>
          <a:prstGeom prst="rect">
            <a:avLst/>
          </a:prstGeom>
          <a:noFill/>
        </p:spPr>
        <p:txBody>
          <a:bodyPr wrap="square" lIns="0" tIns="0" rIns="0" bIns="0" anchor="t">
            <a:spAutoFit/>
          </a:bodyPr>
          <a:lstStyle/>
          <a:p>
            <a:pPr algn="ctr">
              <a:spcBef>
                <a:spcPts val="0"/>
              </a:spcBef>
              <a:spcAft>
                <a:spcPts val="0"/>
              </a:spcAft>
              <a:defRPr sz="1200" b="1" i="0">
                <a:solidFill>
                  <a:srgbClr val="11162F"/>
                </a:solidFill>
                <a:latin typeface="DejaVu Sans"/>
              </a:defRPr>
            </a:pPr>
            <a:r>
              <a:t>RemSleep</a:t>
            </a:r>
          </a:p>
        </p:txBody>
      </p:sp>
      <p:sp>
        <p:nvSpPr>
          <p:cNvPr id="41" name="TextBox 40"/>
          <p:cNvSpPr txBox="1"/>
          <p:nvPr/>
        </p:nvSpPr>
        <p:spPr>
          <a:xfrm>
            <a:off x="10607040" y="2990088"/>
            <a:ext cx="1490472" cy="274320"/>
          </a:xfrm>
          <a:prstGeom prst="rect">
            <a:avLst/>
          </a:prstGeom>
          <a:noFill/>
        </p:spPr>
        <p:txBody>
          <a:bodyPr wrap="square" lIns="0" tIns="0" rIns="0" bIns="0" anchor="t">
            <a:spAutoFit/>
          </a:bodyPr>
          <a:lstStyle/>
          <a:p>
            <a:pPr algn="ctr">
              <a:spcBef>
                <a:spcPts val="0"/>
              </a:spcBef>
              <a:spcAft>
                <a:spcPts val="0"/>
              </a:spcAft>
              <a:defRPr sz="900" b="0" i="0">
                <a:solidFill>
                  <a:srgbClr val="737A91"/>
                </a:solidFill>
                <a:latin typeface="DejaVu Sans"/>
              </a:defRPr>
            </a:pPr>
            <a:r>
              <a:t>Brand system</a:t>
            </a:r>
          </a:p>
        </p:txBody>
      </p:sp>
      <p:sp>
        <p:nvSpPr>
          <p:cNvPr id="42" name="Rounded Rectangle 41"/>
          <p:cNvSpPr/>
          <p:nvPr/>
        </p:nvSpPr>
        <p:spPr>
          <a:xfrm>
            <a:off x="731520" y="5349240"/>
            <a:ext cx="2670048" cy="310896"/>
          </a:xfrm>
          <a:prstGeom prst="roundRect">
            <a:avLst>
              <a:gd name="adj" fmla="val 12000"/>
            </a:avLst>
          </a:prstGeom>
          <a:solidFill>
            <a:srgbClr val="D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2104" y="5390388"/>
            <a:ext cx="2468879" cy="219456"/>
          </a:xfrm>
          <a:prstGeom prst="rect">
            <a:avLst/>
          </a:prstGeom>
          <a:noFill/>
        </p:spPr>
        <p:txBody>
          <a:bodyPr wrap="square" lIns="0" tIns="0" rIns="0" bIns="0" anchor="ctr">
            <a:spAutoFit/>
          </a:bodyPr>
          <a:lstStyle/>
          <a:p>
            <a:pPr algn="l">
              <a:spcBef>
                <a:spcPts val="0"/>
              </a:spcBef>
              <a:spcAft>
                <a:spcPts val="0"/>
              </a:spcAft>
              <a:defRPr sz="850" b="1" i="0">
                <a:solidFill>
                  <a:srgbClr val="239B78"/>
                </a:solidFill>
                <a:latin typeface="DejaVu Sans"/>
              </a:defRPr>
            </a:pPr>
            <a:r>
              <a:t>OVASYS  /  THREE-MONTH ENGAGEMENT</a:t>
            </a:r>
          </a:p>
        </p:txBody>
      </p:sp>
      <p:sp>
        <p:nvSpPr>
          <p:cNvPr id="44" name="TextBox 43"/>
          <p:cNvSpPr txBox="1"/>
          <p:nvPr/>
        </p:nvSpPr>
        <p:spPr>
          <a:xfrm>
            <a:off x="3657600" y="5394960"/>
            <a:ext cx="5486400" cy="237744"/>
          </a:xfrm>
          <a:prstGeom prst="rect">
            <a:avLst/>
          </a:prstGeom>
          <a:noFill/>
        </p:spPr>
        <p:txBody>
          <a:bodyPr wrap="square" lIns="0" tIns="0" rIns="0" bIns="0" anchor="t">
            <a:spAutoFit/>
          </a:bodyPr>
          <a:lstStyle/>
          <a:p>
            <a:pPr algn="l">
              <a:spcBef>
                <a:spcPts val="0"/>
              </a:spcBef>
              <a:spcAft>
                <a:spcPts val="0"/>
              </a:spcAft>
              <a:defRPr sz="1000" b="0" i="0">
                <a:solidFill>
                  <a:srgbClr val="737A91"/>
                </a:solidFill>
                <a:latin typeface="DejaVu Sans"/>
              </a:defRPr>
            </a:pPr>
            <a:r>
              <a:t>Also: AIESEC collaborations with entities in the UAE and Albania.</a:t>
            </a:r>
          </a:p>
        </p:txBody>
      </p:sp>
      <p:cxnSp>
        <p:nvCxnSpPr>
          <p:cNvPr id="45" name="Connector 44"/>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47" name="TextBox 46"/>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EXPERIENCE</a:t>
            </a:r>
          </a:p>
        </p:txBody>
      </p:sp>
      <p:sp>
        <p:nvSpPr>
          <p:cNvPr id="48" name="TextBox 47"/>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07 / 17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CASE 01  /  BRAND + CONTENT STRATEGY  /  2023</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OVALAY</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A paused brand needed a reason to return.</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ovalay_mic.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084831"/>
            <a:ext cx="6812280" cy="749808"/>
          </a:xfrm>
          <a:prstGeom prst="rect">
            <a:avLst/>
          </a:prstGeom>
          <a:noFill/>
        </p:spPr>
        <p:txBody>
          <a:bodyPr wrap="square" lIns="0" tIns="0" rIns="0" bIns="0" anchor="t">
            <a:spAutoFit/>
          </a:bodyPr>
          <a:lstStyle/>
          <a:p>
            <a:pPr algn="l">
              <a:spcBef>
                <a:spcPts val="0"/>
              </a:spcBef>
              <a:spcAft>
                <a:spcPts val="0"/>
              </a:spcAft>
              <a:defRPr sz="1700" b="0" i="0">
                <a:solidFill>
                  <a:srgbClr val="1A2038"/>
                </a:solidFill>
                <a:latin typeface="DejaVu Sans"/>
              </a:defRPr>
            </a:pPr>
            <a:r>
              <a:t>Ovalay had been on hiatus. The challenge was to make the brand legible again and give people a reason to pay attention beyond a relaunch announcement.</a:t>
            </a:r>
          </a:p>
        </p:txBody>
      </p:sp>
      <p:sp>
        <p:nvSpPr>
          <p:cNvPr id="9" name="Rounded Rectangle 8"/>
          <p:cNvSpPr/>
          <p:nvPr/>
        </p:nvSpPr>
        <p:spPr>
          <a:xfrm>
            <a:off x="713232" y="3136392"/>
            <a:ext cx="6766560" cy="1965960"/>
          </a:xfrm>
          <a:prstGeom prst="roundRect">
            <a:avLst>
              <a:gd name="adj" fmla="val 12000"/>
            </a:avLst>
          </a:prstGeom>
          <a:solidFill>
            <a:srgbClr val="EE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383280"/>
            <a:ext cx="2240280" cy="274320"/>
          </a:xfrm>
          <a:prstGeom prst="rect">
            <a:avLst/>
          </a:prstGeom>
          <a:noFill/>
        </p:spPr>
        <p:txBody>
          <a:bodyPr wrap="square" lIns="0" tIns="0" rIns="0" bIns="0" anchor="t">
            <a:spAutoFit/>
          </a:bodyPr>
          <a:lstStyle/>
          <a:p>
            <a:pPr algn="l">
              <a:spcBef>
                <a:spcPts val="0"/>
              </a:spcBef>
              <a:spcAft>
                <a:spcPts val="0"/>
              </a:spcAft>
              <a:defRPr sz="900" b="1" i="0">
                <a:solidFill>
                  <a:srgbClr val="4657E8"/>
                </a:solidFill>
                <a:latin typeface="DejaVu Sans"/>
              </a:defRPr>
            </a:pPr>
            <a:r>
              <a:t>THE STRATEGIC WORK</a:t>
            </a:r>
          </a:p>
        </p:txBody>
      </p:sp>
      <p:sp>
        <p:nvSpPr>
          <p:cNvPr id="11" name="TextBox 10"/>
          <p:cNvSpPr txBox="1"/>
          <p:nvPr/>
        </p:nvSpPr>
        <p:spPr>
          <a:xfrm>
            <a:off x="960120" y="3794760"/>
            <a:ext cx="6126480" cy="914400"/>
          </a:xfrm>
          <a:prstGeom prst="rect">
            <a:avLst/>
          </a:prstGeom>
          <a:noFill/>
        </p:spPr>
        <p:txBody>
          <a:bodyPr wrap="square" lIns="0" tIns="0" rIns="0" bIns="0" anchor="t">
            <a:spAutoFit/>
          </a:bodyPr>
          <a:lstStyle/>
          <a:p>
            <a:pPr algn="l">
              <a:spcBef>
                <a:spcPts val="0"/>
              </a:spcBef>
              <a:spcAft>
                <a:spcPts val="0"/>
              </a:spcAft>
              <a:defRPr sz="1600" b="0" i="0">
                <a:solidFill>
                  <a:srgbClr val="1A2038"/>
                </a:solidFill>
                <a:latin typeface="DejaVu Sans"/>
              </a:defRPr>
            </a:pPr>
            <a:r>
              <a:t>Refreshed the brand and market re-entry direction; clarified product target markets; developed marketing and partnership outlines; built a content calendar and strategy.</a:t>
            </a:r>
          </a:p>
        </p:txBody>
      </p:sp>
      <p:sp>
        <p:nvSpPr>
          <p:cNvPr id="12" name="Rounded Rectangle 11"/>
          <p:cNvSpPr/>
          <p:nvPr/>
        </p:nvSpPr>
        <p:spPr>
          <a:xfrm>
            <a:off x="7845552" y="2084831"/>
            <a:ext cx="3611880" cy="3566160"/>
          </a:xfrm>
          <a:prstGeom prst="roundRect">
            <a:avLst>
              <a:gd name="adj" fmla="val 12000"/>
            </a:avLst>
          </a:prstGeom>
          <a:solidFill>
            <a:srgbClr val="11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74736" y="2395728"/>
            <a:ext cx="2880360" cy="768096"/>
          </a:xfrm>
          <a:prstGeom prst="rect">
            <a:avLst/>
          </a:prstGeom>
          <a:noFill/>
        </p:spPr>
        <p:txBody>
          <a:bodyPr wrap="square" lIns="0" tIns="0" rIns="0" bIns="0" anchor="t">
            <a:spAutoFit/>
          </a:bodyPr>
          <a:lstStyle/>
          <a:p>
            <a:pPr algn="l">
              <a:spcBef>
                <a:spcPts val="0"/>
              </a:spcBef>
              <a:spcAft>
                <a:spcPts val="0"/>
              </a:spcAft>
              <a:defRPr sz="1600" b="1" i="0">
                <a:solidFill>
                  <a:srgbClr val="FFFFFF"/>
                </a:solidFill>
                <a:latin typeface="DejaVu Sans"/>
              </a:defRPr>
            </a:pPr>
            <a:r>
              <a:t>12 DAYS OF</a:t>
            </a:r>
          </a:p>
          <a:p>
            <a:pPr algn="l">
              <a:spcBef>
                <a:spcPts val="0"/>
              </a:spcBef>
              <a:spcAft>
                <a:spcPts val="0"/>
              </a:spcAft>
              <a:defRPr sz="1600" b="1" i="0">
                <a:solidFill>
                  <a:srgbClr val="FFFFFF"/>
                </a:solidFill>
                <a:latin typeface="DejaVu Sans"/>
              </a:defRPr>
            </a:pPr>
            <a:r>
              <a:t>DESIGN THERAPY</a:t>
            </a:r>
          </a:p>
        </p:txBody>
      </p:sp>
      <p:sp>
        <p:nvSpPr>
          <p:cNvPr id="14" name="TextBox 13"/>
          <p:cNvSpPr txBox="1"/>
          <p:nvPr/>
        </p:nvSpPr>
        <p:spPr>
          <a:xfrm>
            <a:off x="8174736" y="3401568"/>
            <a:ext cx="2834640" cy="960120"/>
          </a:xfrm>
          <a:prstGeom prst="rect">
            <a:avLst/>
          </a:prstGeom>
          <a:noFill/>
        </p:spPr>
        <p:txBody>
          <a:bodyPr wrap="square" lIns="0" tIns="0" rIns="0" bIns="0" anchor="t">
            <a:spAutoFit/>
          </a:bodyPr>
          <a:lstStyle/>
          <a:p>
            <a:pPr algn="l">
              <a:spcBef>
                <a:spcPts val="0"/>
              </a:spcBef>
              <a:spcAft>
                <a:spcPts val="0"/>
              </a:spcAft>
              <a:defRPr sz="1300" b="0" i="0">
                <a:solidFill>
                  <a:srgbClr val="DDE3F2"/>
                </a:solidFill>
                <a:latin typeface="DejaVu Sans"/>
              </a:defRPr>
            </a:pPr>
            <a:r>
              <a:t>A daily December Twitter Live series gave the return a recurring format: one speaker, one topic and a reason to come back.</a:t>
            </a:r>
          </a:p>
        </p:txBody>
      </p:sp>
      <p:sp>
        <p:nvSpPr>
          <p:cNvPr id="15" name="Rounded Rectangle 14"/>
          <p:cNvSpPr/>
          <p:nvPr/>
        </p:nvSpPr>
        <p:spPr>
          <a:xfrm>
            <a:off x="8174736" y="4690872"/>
            <a:ext cx="1417320" cy="310896"/>
          </a:xfrm>
          <a:prstGeom prst="roundRect">
            <a:avLst>
              <a:gd name="adj" fmla="val 12000"/>
            </a:avLst>
          </a:prstGeom>
          <a:solidFill>
            <a:srgbClr val="303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19" y="4732020"/>
            <a:ext cx="1216152" cy="219456"/>
          </a:xfrm>
          <a:prstGeom prst="rect">
            <a:avLst/>
          </a:prstGeom>
          <a:noFill/>
        </p:spPr>
        <p:txBody>
          <a:bodyPr wrap="square" lIns="0" tIns="0" rIns="0" bIns="0" anchor="ctr">
            <a:spAutoFit/>
          </a:bodyPr>
          <a:lstStyle/>
          <a:p>
            <a:pPr algn="l">
              <a:spcBef>
                <a:spcPts val="0"/>
              </a:spcBef>
              <a:spcAft>
                <a:spcPts val="0"/>
              </a:spcAft>
              <a:defRPr sz="850" b="1" i="0">
                <a:solidFill>
                  <a:srgbClr val="FF92BA"/>
                </a:solidFill>
                <a:latin typeface="DejaVu Sans"/>
              </a:defRPr>
            </a:pPr>
            <a:r>
              <a:t>12-DAY SERIES</a:t>
            </a:r>
          </a:p>
        </p:txBody>
      </p:sp>
      <p:sp>
        <p:nvSpPr>
          <p:cNvPr id="17" name="TextBox 16"/>
          <p:cNvSpPr txBox="1"/>
          <p:nvPr/>
        </p:nvSpPr>
        <p:spPr>
          <a:xfrm>
            <a:off x="768096" y="5413248"/>
            <a:ext cx="6400800" cy="274320"/>
          </a:xfrm>
          <a:prstGeom prst="rect">
            <a:avLst/>
          </a:prstGeom>
          <a:noFill/>
        </p:spPr>
        <p:txBody>
          <a:bodyPr wrap="square" lIns="0" tIns="0" rIns="0" bIns="0" anchor="t">
            <a:spAutoFit/>
          </a:bodyPr>
          <a:lstStyle/>
          <a:p>
            <a:pPr algn="l">
              <a:spcBef>
                <a:spcPts val="0"/>
              </a:spcBef>
              <a:spcAft>
                <a:spcPts val="0"/>
              </a:spcAft>
              <a:defRPr sz="1200" b="1" i="0">
                <a:solidFill>
                  <a:srgbClr val="239B78"/>
                </a:solidFill>
                <a:latin typeface="DejaVu Sans"/>
              </a:defRPr>
            </a:pPr>
            <a:r>
              <a:t>The idea: turn a quiet return into a shared conversation.</a:t>
            </a:r>
          </a:p>
        </p:txBody>
      </p:sp>
      <p:cxnSp>
        <p:nvCxnSpPr>
          <p:cNvPr id="18" name="Connector 17"/>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0" name="TextBox 19"/>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CASE STUDIES</a:t>
            </a:r>
          </a:p>
        </p:txBody>
      </p:sp>
      <p:sp>
        <p:nvSpPr>
          <p:cNvPr id="21" name="TextBox 20"/>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08 / 17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F92BA"/>
                </a:solidFill>
                <a:latin typeface="DejaVu Sans"/>
              </a:defRPr>
            </a:pPr>
            <a:r>
              <a:t>CASE 01 CONTINUED  /  DECEMBER 2023</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FFFFFF"/>
                </a:solidFill>
                <a:latin typeface="DejaVu Sans"/>
              </a:defRPr>
            </a:pPr>
            <a:r>
              <a:t>OVALAY</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D8DBE7"/>
                </a:solidFill>
                <a:latin typeface="DejaVu Sans"/>
              </a:defRPr>
            </a:pPr>
            <a:r>
              <a:t>Two public post snapshots from the 12-day series. Figures shown are not campaign-wide totals.</a:t>
            </a:r>
          </a:p>
        </p:txBody>
      </p:sp>
      <p:sp>
        <p:nvSpPr>
          <p:cNvPr id="6" name="Rounded Rectangle 5"/>
          <p:cNvSpPr/>
          <p:nvPr/>
        </p:nvSpPr>
        <p:spPr>
          <a:xfrm>
            <a:off x="731520" y="2267712"/>
            <a:ext cx="4892040" cy="2505456"/>
          </a:xfrm>
          <a:prstGeom prst="roundRect">
            <a:avLst>
              <a:gd name="adj" fmla="val 12000"/>
            </a:avLst>
          </a:prstGeom>
          <a:solidFill>
            <a:srgbClr val="1B2344"/>
          </a:solidFill>
          <a:ln w="12700">
            <a:solidFill>
              <a:srgbClr val="3A4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551176"/>
            <a:ext cx="1005840" cy="237744"/>
          </a:xfrm>
          <a:prstGeom prst="rect">
            <a:avLst/>
          </a:prstGeom>
          <a:noFill/>
        </p:spPr>
        <p:txBody>
          <a:bodyPr wrap="square" lIns="0" tIns="0" rIns="0" bIns="0" anchor="t">
            <a:spAutoFit/>
          </a:bodyPr>
          <a:lstStyle/>
          <a:p>
            <a:pPr algn="l">
              <a:spcBef>
                <a:spcPts val="0"/>
              </a:spcBef>
              <a:spcAft>
                <a:spcPts val="0"/>
              </a:spcAft>
              <a:defRPr sz="1000" b="1" i="0">
                <a:solidFill>
                  <a:srgbClr val="FF92BA"/>
                </a:solidFill>
                <a:latin typeface="DejaVu Sans"/>
              </a:defRPr>
            </a:pPr>
            <a:r>
              <a:t>DECEMBER POST</a:t>
            </a:r>
          </a:p>
        </p:txBody>
      </p:sp>
      <p:sp>
        <p:nvSpPr>
          <p:cNvPr id="8" name="TextBox 7"/>
          <p:cNvSpPr txBox="1"/>
          <p:nvPr/>
        </p:nvSpPr>
        <p:spPr>
          <a:xfrm>
            <a:off x="4251960" y="2551176"/>
            <a:ext cx="1005840" cy="237744"/>
          </a:xfrm>
          <a:prstGeom prst="rect">
            <a:avLst/>
          </a:prstGeom>
          <a:noFill/>
        </p:spPr>
        <p:txBody>
          <a:bodyPr wrap="square" lIns="0" tIns="0" rIns="0" bIns="0" anchor="t">
            <a:spAutoFit/>
          </a:bodyPr>
          <a:lstStyle/>
          <a:p>
            <a:pPr algn="r">
              <a:spcBef>
                <a:spcPts val="0"/>
              </a:spcBef>
              <a:spcAft>
                <a:spcPts val="0"/>
              </a:spcAft>
              <a:defRPr sz="900" b="1" i="0">
                <a:solidFill>
                  <a:srgbClr val="BCC4DA"/>
                </a:solidFill>
                <a:latin typeface="DejaVu Sans"/>
              </a:defRPr>
            </a:pPr>
            <a:r>
              <a:t>22 DEC</a:t>
            </a:r>
          </a:p>
        </p:txBody>
      </p:sp>
      <p:sp>
        <p:nvSpPr>
          <p:cNvPr id="9" name="TextBox 8"/>
          <p:cNvSpPr txBox="1"/>
          <p:nvPr/>
        </p:nvSpPr>
        <p:spPr>
          <a:xfrm>
            <a:off x="1024128" y="3063240"/>
            <a:ext cx="1170432" cy="566928"/>
          </a:xfrm>
          <a:prstGeom prst="rect">
            <a:avLst/>
          </a:prstGeom>
          <a:noFill/>
        </p:spPr>
        <p:txBody>
          <a:bodyPr wrap="square" lIns="0" tIns="0" rIns="0" bIns="0" anchor="t">
            <a:spAutoFit/>
          </a:bodyPr>
          <a:lstStyle/>
          <a:p>
            <a:pPr algn="l">
              <a:spcBef>
                <a:spcPts val="0"/>
              </a:spcBef>
              <a:spcAft>
                <a:spcPts val="0"/>
              </a:spcAft>
              <a:defRPr sz="3100" b="1" i="0">
                <a:solidFill>
                  <a:srgbClr val="FFFFFF"/>
                </a:solidFill>
                <a:latin typeface="DejaVu Sans"/>
              </a:defRPr>
            </a:pPr>
            <a:r>
              <a:t>807</a:t>
            </a:r>
          </a:p>
        </p:txBody>
      </p:sp>
      <p:sp>
        <p:nvSpPr>
          <p:cNvPr id="10" name="TextBox 9"/>
          <p:cNvSpPr txBox="1"/>
          <p:nvPr/>
        </p:nvSpPr>
        <p:spPr>
          <a:xfrm>
            <a:off x="1042416" y="3657600"/>
            <a:ext cx="1051560" cy="228600"/>
          </a:xfrm>
          <a:prstGeom prst="rect">
            <a:avLst/>
          </a:prstGeom>
          <a:noFill/>
        </p:spPr>
        <p:txBody>
          <a:bodyPr wrap="square" lIns="0" tIns="0" rIns="0" bIns="0" anchor="t">
            <a:spAutoFit/>
          </a:bodyPr>
          <a:lstStyle/>
          <a:p>
            <a:pPr algn="l">
              <a:spcBef>
                <a:spcPts val="0"/>
              </a:spcBef>
              <a:spcAft>
                <a:spcPts val="0"/>
              </a:spcAft>
              <a:defRPr sz="1000" b="0" i="0">
                <a:solidFill>
                  <a:srgbClr val="D5DAE8"/>
                </a:solidFill>
                <a:latin typeface="DejaVu Sans"/>
              </a:defRPr>
            </a:pPr>
            <a:r>
              <a:t>views</a:t>
            </a:r>
          </a:p>
        </p:txBody>
      </p:sp>
      <p:cxnSp>
        <p:nvCxnSpPr>
          <p:cNvPr id="11" name="Connector 10"/>
          <p:cNvCxnSpPr/>
          <p:nvPr/>
        </p:nvCxnSpPr>
        <p:spPr>
          <a:xfrm>
            <a:off x="2313432" y="3035808"/>
            <a:ext cx="0" cy="1152144"/>
          </a:xfrm>
          <a:prstGeom prst="line">
            <a:avLst/>
          </a:prstGeom>
          <a:ln w="12700">
            <a:solidFill>
              <a:srgbClr val="3A426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578608" y="3218688"/>
            <a:ext cx="530352" cy="347472"/>
          </a:xfrm>
          <a:prstGeom prst="rect">
            <a:avLst/>
          </a:prstGeom>
          <a:noFill/>
        </p:spPr>
        <p:txBody>
          <a:bodyPr wrap="square" lIns="0" tIns="0" rIns="0" bIns="0" anchor="t">
            <a:spAutoFit/>
          </a:bodyPr>
          <a:lstStyle/>
          <a:p>
            <a:pPr algn="ctr">
              <a:spcBef>
                <a:spcPts val="0"/>
              </a:spcBef>
              <a:spcAft>
                <a:spcPts val="0"/>
              </a:spcAft>
              <a:defRPr sz="1800" b="1" i="0">
                <a:solidFill>
                  <a:srgbClr val="FFFFFF"/>
                </a:solidFill>
                <a:latin typeface="DejaVu Sans"/>
              </a:defRPr>
            </a:pPr>
            <a:r>
              <a:t>5</a:t>
            </a:r>
          </a:p>
        </p:txBody>
      </p:sp>
      <p:sp>
        <p:nvSpPr>
          <p:cNvPr id="13" name="TextBox 12"/>
          <p:cNvSpPr txBox="1"/>
          <p:nvPr/>
        </p:nvSpPr>
        <p:spPr>
          <a:xfrm>
            <a:off x="2468880" y="3639312"/>
            <a:ext cx="731520" cy="228600"/>
          </a:xfrm>
          <a:prstGeom prst="rect">
            <a:avLst/>
          </a:prstGeom>
          <a:noFill/>
        </p:spPr>
        <p:txBody>
          <a:bodyPr wrap="square" lIns="0" tIns="0" rIns="0" bIns="0" anchor="t">
            <a:spAutoFit/>
          </a:bodyPr>
          <a:lstStyle/>
          <a:p>
            <a:pPr algn="ctr">
              <a:spcBef>
                <a:spcPts val="0"/>
              </a:spcBef>
              <a:spcAft>
                <a:spcPts val="0"/>
              </a:spcAft>
              <a:defRPr sz="900" b="0" i="0">
                <a:solidFill>
                  <a:srgbClr val="D5DAE8"/>
                </a:solidFill>
                <a:latin typeface="DejaVu Sans"/>
              </a:defRPr>
            </a:pPr>
            <a:r>
              <a:t>likes</a:t>
            </a:r>
          </a:p>
        </p:txBody>
      </p:sp>
      <p:sp>
        <p:nvSpPr>
          <p:cNvPr id="14" name="TextBox 13"/>
          <p:cNvSpPr txBox="1"/>
          <p:nvPr/>
        </p:nvSpPr>
        <p:spPr>
          <a:xfrm>
            <a:off x="3566160" y="3218688"/>
            <a:ext cx="530352" cy="347472"/>
          </a:xfrm>
          <a:prstGeom prst="rect">
            <a:avLst/>
          </a:prstGeom>
          <a:noFill/>
        </p:spPr>
        <p:txBody>
          <a:bodyPr wrap="square" lIns="0" tIns="0" rIns="0" bIns="0" anchor="t">
            <a:spAutoFit/>
          </a:bodyPr>
          <a:lstStyle/>
          <a:p>
            <a:pPr algn="ctr">
              <a:spcBef>
                <a:spcPts val="0"/>
              </a:spcBef>
              <a:spcAft>
                <a:spcPts val="0"/>
              </a:spcAft>
              <a:defRPr sz="1800" b="1" i="0">
                <a:solidFill>
                  <a:srgbClr val="FFFFFF"/>
                </a:solidFill>
                <a:latin typeface="DejaVu Sans"/>
              </a:defRPr>
            </a:pPr>
            <a:r>
              <a:t>5</a:t>
            </a:r>
          </a:p>
        </p:txBody>
      </p:sp>
      <p:sp>
        <p:nvSpPr>
          <p:cNvPr id="15" name="TextBox 14"/>
          <p:cNvSpPr txBox="1"/>
          <p:nvPr/>
        </p:nvSpPr>
        <p:spPr>
          <a:xfrm>
            <a:off x="3383280" y="3639312"/>
            <a:ext cx="914400" cy="228600"/>
          </a:xfrm>
          <a:prstGeom prst="rect">
            <a:avLst/>
          </a:prstGeom>
          <a:noFill/>
        </p:spPr>
        <p:txBody>
          <a:bodyPr wrap="square" lIns="0" tIns="0" rIns="0" bIns="0" anchor="t">
            <a:spAutoFit/>
          </a:bodyPr>
          <a:lstStyle/>
          <a:p>
            <a:pPr algn="ctr">
              <a:spcBef>
                <a:spcPts val="0"/>
              </a:spcBef>
              <a:spcAft>
                <a:spcPts val="0"/>
              </a:spcAft>
              <a:defRPr sz="900" b="0" i="0">
                <a:solidFill>
                  <a:srgbClr val="D5DAE8"/>
                </a:solidFill>
                <a:latin typeface="DejaVu Sans"/>
              </a:defRPr>
            </a:pPr>
            <a:r>
              <a:t>reposts</a:t>
            </a:r>
          </a:p>
        </p:txBody>
      </p:sp>
      <p:sp>
        <p:nvSpPr>
          <p:cNvPr id="16" name="Rounded Rectangle 15"/>
          <p:cNvSpPr/>
          <p:nvPr/>
        </p:nvSpPr>
        <p:spPr>
          <a:xfrm>
            <a:off x="6245352" y="2267712"/>
            <a:ext cx="4892040" cy="2505456"/>
          </a:xfrm>
          <a:prstGeom prst="roundRect">
            <a:avLst>
              <a:gd name="adj" fmla="val 12000"/>
            </a:avLst>
          </a:prstGeom>
          <a:solidFill>
            <a:srgbClr val="1B2344"/>
          </a:solidFill>
          <a:ln w="12700">
            <a:solidFill>
              <a:srgbClr val="3A4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2551176"/>
            <a:ext cx="1005840" cy="237744"/>
          </a:xfrm>
          <a:prstGeom prst="rect">
            <a:avLst/>
          </a:prstGeom>
          <a:noFill/>
        </p:spPr>
        <p:txBody>
          <a:bodyPr wrap="square" lIns="0" tIns="0" rIns="0" bIns="0" anchor="t">
            <a:spAutoFit/>
          </a:bodyPr>
          <a:lstStyle/>
          <a:p>
            <a:pPr algn="l">
              <a:spcBef>
                <a:spcPts val="0"/>
              </a:spcBef>
              <a:spcAft>
                <a:spcPts val="0"/>
              </a:spcAft>
              <a:defRPr sz="1000" b="1" i="0">
                <a:solidFill>
                  <a:srgbClr val="FF92BA"/>
                </a:solidFill>
                <a:latin typeface="DejaVu Sans"/>
              </a:defRPr>
            </a:pPr>
            <a:r>
              <a:t>DAY 12</a:t>
            </a:r>
          </a:p>
        </p:txBody>
      </p:sp>
      <p:sp>
        <p:nvSpPr>
          <p:cNvPr id="18" name="TextBox 17"/>
          <p:cNvSpPr txBox="1"/>
          <p:nvPr/>
        </p:nvSpPr>
        <p:spPr>
          <a:xfrm>
            <a:off x="9765792" y="2551176"/>
            <a:ext cx="1005840" cy="237744"/>
          </a:xfrm>
          <a:prstGeom prst="rect">
            <a:avLst/>
          </a:prstGeom>
          <a:noFill/>
        </p:spPr>
        <p:txBody>
          <a:bodyPr wrap="square" lIns="0" tIns="0" rIns="0" bIns="0" anchor="t">
            <a:spAutoFit/>
          </a:bodyPr>
          <a:lstStyle/>
          <a:p>
            <a:pPr algn="r">
              <a:spcBef>
                <a:spcPts val="0"/>
              </a:spcBef>
              <a:spcAft>
                <a:spcPts val="0"/>
              </a:spcAft>
              <a:defRPr sz="900" b="1" i="0">
                <a:solidFill>
                  <a:srgbClr val="BCC4DA"/>
                </a:solidFill>
                <a:latin typeface="DejaVu Sans"/>
              </a:defRPr>
            </a:pPr>
            <a:r>
              <a:t>24 DEC</a:t>
            </a:r>
          </a:p>
        </p:txBody>
      </p:sp>
      <p:sp>
        <p:nvSpPr>
          <p:cNvPr id="19" name="TextBox 18"/>
          <p:cNvSpPr txBox="1"/>
          <p:nvPr/>
        </p:nvSpPr>
        <p:spPr>
          <a:xfrm>
            <a:off x="6537960" y="3063240"/>
            <a:ext cx="1170432" cy="566928"/>
          </a:xfrm>
          <a:prstGeom prst="rect">
            <a:avLst/>
          </a:prstGeom>
          <a:noFill/>
        </p:spPr>
        <p:txBody>
          <a:bodyPr wrap="square" lIns="0" tIns="0" rIns="0" bIns="0" anchor="t">
            <a:spAutoFit/>
          </a:bodyPr>
          <a:lstStyle/>
          <a:p>
            <a:pPr algn="l">
              <a:spcBef>
                <a:spcPts val="0"/>
              </a:spcBef>
              <a:spcAft>
                <a:spcPts val="0"/>
              </a:spcAft>
              <a:defRPr sz="3100" b="1" i="0">
                <a:solidFill>
                  <a:srgbClr val="FFFFFF"/>
                </a:solidFill>
                <a:latin typeface="DejaVu Sans"/>
              </a:defRPr>
            </a:pPr>
            <a:r>
              <a:t>1.4K</a:t>
            </a:r>
          </a:p>
        </p:txBody>
      </p:sp>
      <p:sp>
        <p:nvSpPr>
          <p:cNvPr id="20" name="TextBox 19"/>
          <p:cNvSpPr txBox="1"/>
          <p:nvPr/>
        </p:nvSpPr>
        <p:spPr>
          <a:xfrm>
            <a:off x="6556248" y="3657600"/>
            <a:ext cx="1051560" cy="228600"/>
          </a:xfrm>
          <a:prstGeom prst="rect">
            <a:avLst/>
          </a:prstGeom>
          <a:noFill/>
        </p:spPr>
        <p:txBody>
          <a:bodyPr wrap="square" lIns="0" tIns="0" rIns="0" bIns="0" anchor="t">
            <a:spAutoFit/>
          </a:bodyPr>
          <a:lstStyle/>
          <a:p>
            <a:pPr algn="l">
              <a:spcBef>
                <a:spcPts val="0"/>
              </a:spcBef>
              <a:spcAft>
                <a:spcPts val="0"/>
              </a:spcAft>
              <a:defRPr sz="1000" b="0" i="0">
                <a:solidFill>
                  <a:srgbClr val="D5DAE8"/>
                </a:solidFill>
                <a:latin typeface="DejaVu Sans"/>
              </a:defRPr>
            </a:pPr>
            <a:r>
              <a:t>views</a:t>
            </a:r>
          </a:p>
        </p:txBody>
      </p:sp>
      <p:cxnSp>
        <p:nvCxnSpPr>
          <p:cNvPr id="21" name="Connector 20"/>
          <p:cNvCxnSpPr/>
          <p:nvPr/>
        </p:nvCxnSpPr>
        <p:spPr>
          <a:xfrm>
            <a:off x="7827264" y="3035808"/>
            <a:ext cx="0" cy="1152144"/>
          </a:xfrm>
          <a:prstGeom prst="line">
            <a:avLst/>
          </a:prstGeom>
          <a:ln w="12700">
            <a:solidFill>
              <a:srgbClr val="3A426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092440" y="3218688"/>
            <a:ext cx="530352" cy="347472"/>
          </a:xfrm>
          <a:prstGeom prst="rect">
            <a:avLst/>
          </a:prstGeom>
          <a:noFill/>
        </p:spPr>
        <p:txBody>
          <a:bodyPr wrap="square" lIns="0" tIns="0" rIns="0" bIns="0" anchor="t">
            <a:spAutoFit/>
          </a:bodyPr>
          <a:lstStyle/>
          <a:p>
            <a:pPr algn="ctr">
              <a:spcBef>
                <a:spcPts val="0"/>
              </a:spcBef>
              <a:spcAft>
                <a:spcPts val="0"/>
              </a:spcAft>
              <a:defRPr sz="1800" b="1" i="0">
                <a:solidFill>
                  <a:srgbClr val="FFFFFF"/>
                </a:solidFill>
                <a:latin typeface="DejaVu Sans"/>
              </a:defRPr>
            </a:pPr>
            <a:r>
              <a:t>18</a:t>
            </a:r>
          </a:p>
        </p:txBody>
      </p:sp>
      <p:sp>
        <p:nvSpPr>
          <p:cNvPr id="23" name="TextBox 22"/>
          <p:cNvSpPr txBox="1"/>
          <p:nvPr/>
        </p:nvSpPr>
        <p:spPr>
          <a:xfrm>
            <a:off x="7982712" y="3639312"/>
            <a:ext cx="731520" cy="228600"/>
          </a:xfrm>
          <a:prstGeom prst="rect">
            <a:avLst/>
          </a:prstGeom>
          <a:noFill/>
        </p:spPr>
        <p:txBody>
          <a:bodyPr wrap="square" lIns="0" tIns="0" rIns="0" bIns="0" anchor="t">
            <a:spAutoFit/>
          </a:bodyPr>
          <a:lstStyle/>
          <a:p>
            <a:pPr algn="ctr">
              <a:spcBef>
                <a:spcPts val="0"/>
              </a:spcBef>
              <a:spcAft>
                <a:spcPts val="0"/>
              </a:spcAft>
              <a:defRPr sz="900" b="0" i="0">
                <a:solidFill>
                  <a:srgbClr val="D5DAE8"/>
                </a:solidFill>
                <a:latin typeface="DejaVu Sans"/>
              </a:defRPr>
            </a:pPr>
            <a:r>
              <a:t>likes</a:t>
            </a:r>
          </a:p>
        </p:txBody>
      </p:sp>
      <p:sp>
        <p:nvSpPr>
          <p:cNvPr id="24" name="TextBox 23"/>
          <p:cNvSpPr txBox="1"/>
          <p:nvPr/>
        </p:nvSpPr>
        <p:spPr>
          <a:xfrm>
            <a:off x="9079992" y="3218688"/>
            <a:ext cx="530352" cy="347472"/>
          </a:xfrm>
          <a:prstGeom prst="rect">
            <a:avLst/>
          </a:prstGeom>
          <a:noFill/>
        </p:spPr>
        <p:txBody>
          <a:bodyPr wrap="square" lIns="0" tIns="0" rIns="0" bIns="0" anchor="t">
            <a:spAutoFit/>
          </a:bodyPr>
          <a:lstStyle/>
          <a:p>
            <a:pPr algn="ctr">
              <a:spcBef>
                <a:spcPts val="0"/>
              </a:spcBef>
              <a:spcAft>
                <a:spcPts val="0"/>
              </a:spcAft>
              <a:defRPr sz="1800" b="1" i="0">
                <a:solidFill>
                  <a:srgbClr val="FFFFFF"/>
                </a:solidFill>
                <a:latin typeface="DejaVu Sans"/>
              </a:defRPr>
            </a:pPr>
            <a:r>
              <a:t>8</a:t>
            </a:r>
          </a:p>
        </p:txBody>
      </p:sp>
      <p:sp>
        <p:nvSpPr>
          <p:cNvPr id="25" name="TextBox 24"/>
          <p:cNvSpPr txBox="1"/>
          <p:nvPr/>
        </p:nvSpPr>
        <p:spPr>
          <a:xfrm>
            <a:off x="8897112" y="3639312"/>
            <a:ext cx="914400" cy="228600"/>
          </a:xfrm>
          <a:prstGeom prst="rect">
            <a:avLst/>
          </a:prstGeom>
          <a:noFill/>
        </p:spPr>
        <p:txBody>
          <a:bodyPr wrap="square" lIns="0" tIns="0" rIns="0" bIns="0" anchor="t">
            <a:spAutoFit/>
          </a:bodyPr>
          <a:lstStyle/>
          <a:p>
            <a:pPr algn="ctr">
              <a:spcBef>
                <a:spcPts val="0"/>
              </a:spcBef>
              <a:spcAft>
                <a:spcPts val="0"/>
              </a:spcAft>
              <a:defRPr sz="900" b="0" i="0">
                <a:solidFill>
                  <a:srgbClr val="D5DAE8"/>
                </a:solidFill>
                <a:latin typeface="DejaVu Sans"/>
              </a:defRPr>
            </a:pPr>
            <a:r>
              <a:t>reposts</a:t>
            </a:r>
          </a:p>
        </p:txBody>
      </p:sp>
      <p:sp>
        <p:nvSpPr>
          <p:cNvPr id="26" name="TextBox 25"/>
          <p:cNvSpPr txBox="1"/>
          <p:nvPr/>
        </p:nvSpPr>
        <p:spPr>
          <a:xfrm>
            <a:off x="749808" y="5230368"/>
            <a:ext cx="10515600" cy="530352"/>
          </a:xfrm>
          <a:prstGeom prst="rect">
            <a:avLst/>
          </a:prstGeom>
          <a:noFill/>
        </p:spPr>
        <p:txBody>
          <a:bodyPr wrap="square" lIns="0" tIns="0" rIns="0" bIns="0" anchor="t">
            <a:spAutoFit/>
          </a:bodyPr>
          <a:lstStyle/>
          <a:p>
            <a:pPr algn="l">
              <a:spcBef>
                <a:spcPts val="0"/>
              </a:spcBef>
              <a:spcAft>
                <a:spcPts val="0"/>
              </a:spcAft>
              <a:defRPr sz="1300" b="0" i="0">
                <a:solidFill>
                  <a:srgbClr val="D5DAE8"/>
                </a:solidFill>
                <a:latin typeface="DejaVu Sans"/>
              </a:defRPr>
            </a:pPr>
            <a:r>
              <a:t>These snapshots show public post activity on two campaign days. They do not establish attendance or a before-and-after lift.</a:t>
            </a:r>
          </a:p>
        </p:txBody>
      </p:sp>
      <p:sp>
        <p:nvSpPr>
          <p:cNvPr id="27" name="TextBox 26"/>
          <p:cNvSpPr txBox="1"/>
          <p:nvPr/>
        </p:nvSpPr>
        <p:spPr>
          <a:xfrm>
            <a:off x="749808" y="5833872"/>
            <a:ext cx="10607040" cy="320040"/>
          </a:xfrm>
          <a:prstGeom prst="rect">
            <a:avLst/>
          </a:prstGeom>
          <a:noFill/>
        </p:spPr>
        <p:txBody>
          <a:bodyPr wrap="square" lIns="0" tIns="0" rIns="0" bIns="0" anchor="t">
            <a:spAutoFit/>
          </a:bodyPr>
          <a:lstStyle/>
          <a:p>
            <a:pPr algn="l">
              <a:spcBef>
                <a:spcPts val="0"/>
              </a:spcBef>
              <a:spcAft>
                <a:spcPts val="0"/>
              </a:spcAft>
              <a:defRPr sz="1100" b="1" i="0">
                <a:solidFill>
                  <a:srgbClr val="FF92BA"/>
                </a:solidFill>
                <a:latin typeface="DejaVu Sans"/>
              </a:defRPr>
            </a:pPr>
            <a:r>
              <a:t>Next measurement to verify: baseline post views and engagement before the series, comparable daily posts during it, and carryover afterward.</a:t>
            </a:r>
          </a:p>
        </p:txBody>
      </p:sp>
      <p:cxnSp>
        <p:nvCxnSpPr>
          <p:cNvPr id="28" name="Connector 27"/>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30" name="TextBox 29"/>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CASE STUDIES</a:t>
            </a:r>
          </a:p>
        </p:txBody>
      </p:sp>
      <p:sp>
        <p:nvSpPr>
          <p:cNvPr id="31" name="TextBox 30"/>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09 /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CASE 02  /  2021</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BECHI’S STITCHES</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A name can make room for a bigger future.</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echi_needle.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12264"/>
            <a:ext cx="6858000" cy="1243584"/>
          </a:xfrm>
          <a:prstGeom prst="rect">
            <a:avLst/>
          </a:prstGeom>
          <a:noFill/>
        </p:spPr>
        <p:txBody>
          <a:bodyPr wrap="square" lIns="0" tIns="0" rIns="0" bIns="0" anchor="t">
            <a:spAutoFit/>
          </a:bodyPr>
          <a:lstStyle/>
          <a:p>
            <a:pPr algn="l">
              <a:spcBef>
                <a:spcPts val="0"/>
              </a:spcBef>
              <a:spcAft>
                <a:spcPts val="0"/>
              </a:spcAft>
              <a:defRPr sz="1700" b="0" i="0">
                <a:solidFill>
                  <a:srgbClr val="1A2038"/>
                </a:solidFill>
                <a:latin typeface="DejaVu Sans"/>
              </a:defRPr>
            </a:pPr>
            <a:r>
              <a:t>I could see that presenting the business only as a local tailoring service might limit the opportunities it could grow into. I helped name and reposition it as Bechi’s Stitches, then shaped a proof-led social presence around the work.</a:t>
            </a:r>
          </a:p>
        </p:txBody>
      </p:sp>
      <p:sp>
        <p:nvSpPr>
          <p:cNvPr id="9" name="Rounded Rectangle 8"/>
          <p:cNvSpPr/>
          <p:nvPr/>
        </p:nvSpPr>
        <p:spPr>
          <a:xfrm>
            <a:off x="731520" y="3858768"/>
            <a:ext cx="3246120" cy="1143000"/>
          </a:xfrm>
          <a:prstGeom prst="roundRect">
            <a:avLst>
              <a:gd name="adj" fmla="val 12000"/>
            </a:avLst>
          </a:prstGeom>
          <a:solidFill>
            <a:srgbClr val="F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4078224"/>
            <a:ext cx="2880360" cy="237744"/>
          </a:xfrm>
          <a:prstGeom prst="rect">
            <a:avLst/>
          </a:prstGeom>
          <a:noFill/>
        </p:spPr>
        <p:txBody>
          <a:bodyPr wrap="square" lIns="0" tIns="0" rIns="0" bIns="0" anchor="t">
            <a:spAutoFit/>
          </a:bodyPr>
          <a:lstStyle/>
          <a:p>
            <a:pPr algn="ctr">
              <a:spcBef>
                <a:spcPts val="0"/>
              </a:spcBef>
              <a:spcAft>
                <a:spcPts val="0"/>
              </a:spcAft>
              <a:defRPr sz="1000" b="1" i="0">
                <a:solidFill>
                  <a:srgbClr val="F0609B"/>
                </a:solidFill>
                <a:latin typeface="DejaVu Sans"/>
              </a:defRPr>
            </a:pPr>
            <a:r>
              <a:t>LOCAL TAILOR</a:t>
            </a:r>
          </a:p>
        </p:txBody>
      </p:sp>
      <p:sp>
        <p:nvSpPr>
          <p:cNvPr id="11" name="TextBox 10"/>
          <p:cNvSpPr txBox="1"/>
          <p:nvPr/>
        </p:nvSpPr>
        <p:spPr>
          <a:xfrm>
            <a:off x="932688" y="4434840"/>
            <a:ext cx="2834640" cy="384048"/>
          </a:xfrm>
          <a:prstGeom prst="rect">
            <a:avLst/>
          </a:prstGeom>
          <a:noFill/>
        </p:spPr>
        <p:txBody>
          <a:bodyPr wrap="square" lIns="0" tIns="0" rIns="0" bIns="0" anchor="t">
            <a:spAutoFit/>
          </a:bodyPr>
          <a:lstStyle/>
          <a:p>
            <a:pPr algn="ctr">
              <a:spcBef>
                <a:spcPts val="0"/>
              </a:spcBef>
              <a:spcAft>
                <a:spcPts val="0"/>
              </a:spcAft>
              <a:defRPr sz="1100" b="0" i="0">
                <a:solidFill>
                  <a:srgbClr val="1A2038"/>
                </a:solidFill>
                <a:latin typeface="DejaVu Sans"/>
              </a:defRPr>
            </a:pPr>
            <a:r>
              <a:t>A familiar neighbourhood service</a:t>
            </a:r>
          </a:p>
        </p:txBody>
      </p:sp>
      <p:sp>
        <p:nvSpPr>
          <p:cNvPr id="12" name="TextBox 11"/>
          <p:cNvSpPr txBox="1"/>
          <p:nvPr/>
        </p:nvSpPr>
        <p:spPr>
          <a:xfrm>
            <a:off x="4059936" y="4251960"/>
            <a:ext cx="292608" cy="274320"/>
          </a:xfrm>
          <a:prstGeom prst="rect">
            <a:avLst/>
          </a:prstGeom>
          <a:noFill/>
        </p:spPr>
        <p:txBody>
          <a:bodyPr wrap="square" lIns="0" tIns="0" rIns="0" bIns="0" anchor="t">
            <a:spAutoFit/>
          </a:bodyPr>
          <a:lstStyle/>
          <a:p>
            <a:pPr algn="ctr">
              <a:spcBef>
                <a:spcPts val="0"/>
              </a:spcBef>
              <a:spcAft>
                <a:spcPts val="0"/>
              </a:spcAft>
              <a:defRPr sz="1700" b="1" i="0">
                <a:solidFill>
                  <a:srgbClr val="11162F"/>
                </a:solidFill>
                <a:latin typeface="DejaVu Sans"/>
              </a:defRPr>
            </a:pPr>
            <a:r>
              <a:t>→</a:t>
            </a:r>
          </a:p>
        </p:txBody>
      </p:sp>
      <p:sp>
        <p:nvSpPr>
          <p:cNvPr id="13" name="Rounded Rectangle 12"/>
          <p:cNvSpPr/>
          <p:nvPr/>
        </p:nvSpPr>
        <p:spPr>
          <a:xfrm>
            <a:off x="4416552" y="3858768"/>
            <a:ext cx="3246120" cy="1143000"/>
          </a:xfrm>
          <a:prstGeom prst="roundRect">
            <a:avLst>
              <a:gd name="adj" fmla="val 12000"/>
            </a:avLst>
          </a:prstGeom>
          <a:solidFill>
            <a:srgbClr val="E6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81144" y="4078224"/>
            <a:ext cx="2880360" cy="237744"/>
          </a:xfrm>
          <a:prstGeom prst="rect">
            <a:avLst/>
          </a:prstGeom>
          <a:noFill/>
        </p:spPr>
        <p:txBody>
          <a:bodyPr wrap="square" lIns="0" tIns="0" rIns="0" bIns="0" anchor="t">
            <a:spAutoFit/>
          </a:bodyPr>
          <a:lstStyle/>
          <a:p>
            <a:pPr algn="ctr">
              <a:spcBef>
                <a:spcPts val="0"/>
              </a:spcBef>
              <a:spcAft>
                <a:spcPts val="0"/>
              </a:spcAft>
              <a:defRPr sz="1000" b="1" i="0">
                <a:solidFill>
                  <a:srgbClr val="4657E8"/>
                </a:solidFill>
                <a:latin typeface="DejaVu Sans"/>
              </a:defRPr>
            </a:pPr>
            <a:r>
              <a:t>BECHI’S STITCHES</a:t>
            </a:r>
          </a:p>
        </p:txBody>
      </p:sp>
      <p:sp>
        <p:nvSpPr>
          <p:cNvPr id="15" name="TextBox 14"/>
          <p:cNvSpPr txBox="1"/>
          <p:nvPr/>
        </p:nvSpPr>
        <p:spPr>
          <a:xfrm>
            <a:off x="4617720" y="4434840"/>
            <a:ext cx="2834640" cy="384048"/>
          </a:xfrm>
          <a:prstGeom prst="rect">
            <a:avLst/>
          </a:prstGeom>
          <a:noFill/>
        </p:spPr>
        <p:txBody>
          <a:bodyPr wrap="square" lIns="0" tIns="0" rIns="0" bIns="0" anchor="t">
            <a:spAutoFit/>
          </a:bodyPr>
          <a:lstStyle/>
          <a:p>
            <a:pPr algn="ctr">
              <a:spcBef>
                <a:spcPts val="0"/>
              </a:spcBef>
              <a:spcAft>
                <a:spcPts val="0"/>
              </a:spcAft>
              <a:defRPr sz="1100" b="0" i="0">
                <a:solidFill>
                  <a:srgbClr val="1A2038"/>
                </a:solidFill>
                <a:latin typeface="DejaVu Sans"/>
              </a:defRPr>
            </a:pPr>
            <a:r>
              <a:t>A name and a clearer brand presence</a:t>
            </a:r>
          </a:p>
        </p:txBody>
      </p:sp>
      <p:sp>
        <p:nvSpPr>
          <p:cNvPr id="16" name="TextBox 15"/>
          <p:cNvSpPr txBox="1"/>
          <p:nvPr/>
        </p:nvSpPr>
        <p:spPr>
          <a:xfrm>
            <a:off x="7744968" y="4251960"/>
            <a:ext cx="292608" cy="274320"/>
          </a:xfrm>
          <a:prstGeom prst="rect">
            <a:avLst/>
          </a:prstGeom>
          <a:noFill/>
        </p:spPr>
        <p:txBody>
          <a:bodyPr wrap="square" lIns="0" tIns="0" rIns="0" bIns="0" anchor="t">
            <a:spAutoFit/>
          </a:bodyPr>
          <a:lstStyle/>
          <a:p>
            <a:pPr algn="ctr">
              <a:spcBef>
                <a:spcPts val="0"/>
              </a:spcBef>
              <a:spcAft>
                <a:spcPts val="0"/>
              </a:spcAft>
              <a:defRPr sz="1700" b="1" i="0">
                <a:solidFill>
                  <a:srgbClr val="11162F"/>
                </a:solidFill>
                <a:latin typeface="DejaVu Sans"/>
              </a:defRPr>
            </a:pPr>
            <a:r>
              <a:t>→</a:t>
            </a:r>
          </a:p>
        </p:txBody>
      </p:sp>
      <p:sp>
        <p:nvSpPr>
          <p:cNvPr id="17" name="Rounded Rectangle 16"/>
          <p:cNvSpPr/>
          <p:nvPr/>
        </p:nvSpPr>
        <p:spPr>
          <a:xfrm>
            <a:off x="8101584" y="3858768"/>
            <a:ext cx="3246120" cy="1143000"/>
          </a:xfrm>
          <a:prstGeom prst="roundRect">
            <a:avLst>
              <a:gd name="adj" fmla="val 12000"/>
            </a:avLst>
          </a:prstGeom>
          <a:solidFill>
            <a:srgbClr val="D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66176" y="4078224"/>
            <a:ext cx="2880360" cy="237744"/>
          </a:xfrm>
          <a:prstGeom prst="rect">
            <a:avLst/>
          </a:prstGeom>
          <a:noFill/>
        </p:spPr>
        <p:txBody>
          <a:bodyPr wrap="square" lIns="0" tIns="0" rIns="0" bIns="0" anchor="t">
            <a:spAutoFit/>
          </a:bodyPr>
          <a:lstStyle/>
          <a:p>
            <a:pPr algn="ctr">
              <a:spcBef>
                <a:spcPts val="0"/>
              </a:spcBef>
              <a:spcAft>
                <a:spcPts val="0"/>
              </a:spcAft>
              <a:defRPr sz="1000" b="1" i="0">
                <a:solidFill>
                  <a:srgbClr val="239B78"/>
                </a:solidFill>
                <a:latin typeface="DejaVu Sans"/>
              </a:defRPr>
            </a:pPr>
            <a:r>
              <a:t>STYLED BY BEULAH</a:t>
            </a:r>
          </a:p>
        </p:txBody>
      </p:sp>
      <p:sp>
        <p:nvSpPr>
          <p:cNvPr id="19" name="TextBox 18"/>
          <p:cNvSpPr txBox="1"/>
          <p:nvPr/>
        </p:nvSpPr>
        <p:spPr>
          <a:xfrm>
            <a:off x="8302752" y="4434840"/>
            <a:ext cx="2834640" cy="384048"/>
          </a:xfrm>
          <a:prstGeom prst="rect">
            <a:avLst/>
          </a:prstGeom>
          <a:noFill/>
        </p:spPr>
        <p:txBody>
          <a:bodyPr wrap="square" lIns="0" tIns="0" rIns="0" bIns="0" anchor="t">
            <a:spAutoFit/>
          </a:bodyPr>
          <a:lstStyle/>
          <a:p>
            <a:pPr algn="ctr">
              <a:spcBef>
                <a:spcPts val="0"/>
              </a:spcBef>
              <a:spcAft>
                <a:spcPts val="0"/>
              </a:spcAft>
              <a:defRPr sz="1100" b="0" i="0">
                <a:solidFill>
                  <a:srgbClr val="1A2038"/>
                </a:solidFill>
                <a:latin typeface="DejaVu Sans"/>
              </a:defRPr>
            </a:pPr>
            <a:r>
              <a:t>A later ready-to-wear direction</a:t>
            </a:r>
          </a:p>
        </p:txBody>
      </p:sp>
      <p:sp>
        <p:nvSpPr>
          <p:cNvPr id="20" name="TextBox 19"/>
          <p:cNvSpPr txBox="1"/>
          <p:nvPr/>
        </p:nvSpPr>
        <p:spPr>
          <a:xfrm>
            <a:off x="749808" y="5358384"/>
            <a:ext cx="10424160" cy="530352"/>
          </a:xfrm>
          <a:prstGeom prst="rect">
            <a:avLst/>
          </a:prstGeom>
          <a:noFill/>
        </p:spPr>
        <p:txBody>
          <a:bodyPr wrap="square" lIns="0" tIns="0" rIns="0" bIns="0" anchor="t">
            <a:spAutoFit/>
          </a:bodyPr>
          <a:lstStyle/>
          <a:p>
            <a:pPr algn="l">
              <a:spcBef>
                <a:spcPts val="0"/>
              </a:spcBef>
              <a:spcAft>
                <a:spcPts val="0"/>
              </a:spcAft>
              <a:defRPr sz="1200" b="0" i="0">
                <a:solidFill>
                  <a:srgbClr val="737A91"/>
                </a:solidFill>
                <a:latin typeface="DejaVu Sans"/>
              </a:defRPr>
            </a:pPr>
            <a:r>
              <a:t>My contribution: naming, positioning, logo curation and a proof-led campaign and account presence. The business later moved into ready-to-wear as Styled by Beulah.</a:t>
            </a:r>
          </a:p>
        </p:txBody>
      </p:sp>
      <p:cxnSp>
        <p:nvCxnSpPr>
          <p:cNvPr id="21" name="Connector 20"/>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3" name="TextBox 22"/>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CASE STUDIES</a:t>
            </a:r>
          </a:p>
        </p:txBody>
      </p:sp>
      <p:sp>
        <p:nvSpPr>
          <p:cNvPr id="24" name="TextBox 23"/>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10 / 17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CASE 03  /  CURRICULUM DEVELOPMENT  /  2025</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MARKETING MASTERY</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A three-month course built around doing the work.</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astery_book.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03120"/>
            <a:ext cx="6903720" cy="1005840"/>
          </a:xfrm>
          <a:prstGeom prst="rect">
            <a:avLst/>
          </a:prstGeom>
          <a:noFill/>
        </p:spPr>
        <p:txBody>
          <a:bodyPr wrap="square" lIns="0" tIns="0" rIns="0" bIns="0" anchor="t">
            <a:spAutoFit/>
          </a:bodyPr>
          <a:lstStyle/>
          <a:p>
            <a:pPr algn="l">
              <a:spcBef>
                <a:spcPts val="0"/>
              </a:spcBef>
              <a:spcAft>
                <a:spcPts val="0"/>
              </a:spcAft>
              <a:defRPr sz="1800" b="0" i="0">
                <a:solidFill>
                  <a:srgbClr val="1A2038"/>
                </a:solidFill>
                <a:latin typeface="DejaVu Sans"/>
              </a:defRPr>
            </a:pPr>
            <a:r>
              <a:t>A course should help people use what they learn, not only move through lessons. I developed a three-month learning structure that paired instruction with practice, outputs and reflection.</a:t>
            </a:r>
          </a:p>
        </p:txBody>
      </p:sp>
      <p:sp>
        <p:nvSpPr>
          <p:cNvPr id="9" name="Rounded Rectangle 8"/>
          <p:cNvSpPr/>
          <p:nvPr/>
        </p:nvSpPr>
        <p:spPr>
          <a:xfrm>
            <a:off x="731520" y="3657600"/>
            <a:ext cx="2359152" cy="1298448"/>
          </a:xfrm>
          <a:prstGeom prst="roundRect">
            <a:avLst>
              <a:gd name="adj" fmla="val 12000"/>
            </a:avLst>
          </a:prstGeom>
          <a:solidFill>
            <a:srgbClr val="E6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3858768"/>
            <a:ext cx="475488" cy="329184"/>
          </a:xfrm>
          <a:prstGeom prst="rect">
            <a:avLst/>
          </a:prstGeom>
          <a:noFill/>
        </p:spPr>
        <p:txBody>
          <a:bodyPr wrap="square" lIns="0" tIns="0" rIns="0" bIns="0" anchor="t">
            <a:spAutoFit/>
          </a:bodyPr>
          <a:lstStyle/>
          <a:p>
            <a:pPr algn="l">
              <a:spcBef>
                <a:spcPts val="0"/>
              </a:spcBef>
              <a:spcAft>
                <a:spcPts val="0"/>
              </a:spcAft>
              <a:defRPr sz="1900" b="1" i="0">
                <a:solidFill>
                  <a:srgbClr val="4657E8"/>
                </a:solidFill>
                <a:latin typeface="DejaVu Sans"/>
              </a:defRPr>
            </a:pPr>
            <a:r>
              <a:t>01</a:t>
            </a:r>
          </a:p>
        </p:txBody>
      </p:sp>
      <p:sp>
        <p:nvSpPr>
          <p:cNvPr id="11" name="TextBox 10"/>
          <p:cNvSpPr txBox="1"/>
          <p:nvPr/>
        </p:nvSpPr>
        <p:spPr>
          <a:xfrm>
            <a:off x="1444752" y="3877056"/>
            <a:ext cx="1463040" cy="237744"/>
          </a:xfrm>
          <a:prstGeom prst="rect">
            <a:avLst/>
          </a:prstGeom>
          <a:noFill/>
        </p:spPr>
        <p:txBody>
          <a:bodyPr wrap="square" lIns="0" tIns="0" rIns="0" bIns="0" anchor="t">
            <a:spAutoFit/>
          </a:bodyPr>
          <a:lstStyle/>
          <a:p>
            <a:pPr algn="l">
              <a:spcBef>
                <a:spcPts val="0"/>
              </a:spcBef>
              <a:spcAft>
                <a:spcPts val="0"/>
              </a:spcAft>
              <a:defRPr sz="1000" b="1" i="0">
                <a:solidFill>
                  <a:srgbClr val="11162F"/>
                </a:solidFill>
                <a:latin typeface="DejaVu Sans"/>
              </a:defRPr>
            </a:pPr>
            <a:r>
              <a:t>LEARN</a:t>
            </a:r>
          </a:p>
        </p:txBody>
      </p:sp>
      <p:sp>
        <p:nvSpPr>
          <p:cNvPr id="12" name="TextBox 11"/>
          <p:cNvSpPr txBox="1"/>
          <p:nvPr/>
        </p:nvSpPr>
        <p:spPr>
          <a:xfrm>
            <a:off x="914400" y="4471416"/>
            <a:ext cx="1965960" cy="292608"/>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Daily lessons</a:t>
            </a:r>
          </a:p>
        </p:txBody>
      </p:sp>
      <p:sp>
        <p:nvSpPr>
          <p:cNvPr id="13" name="TextBox 12"/>
          <p:cNvSpPr txBox="1"/>
          <p:nvPr/>
        </p:nvSpPr>
        <p:spPr>
          <a:xfrm>
            <a:off x="3163824" y="4142232"/>
            <a:ext cx="310896" cy="274320"/>
          </a:xfrm>
          <a:prstGeom prst="rect">
            <a:avLst/>
          </a:prstGeom>
          <a:noFill/>
        </p:spPr>
        <p:txBody>
          <a:bodyPr wrap="square" lIns="0" tIns="0" rIns="0" bIns="0" anchor="t">
            <a:spAutoFit/>
          </a:bodyPr>
          <a:lstStyle/>
          <a:p>
            <a:pPr algn="ctr">
              <a:spcBef>
                <a:spcPts val="0"/>
              </a:spcBef>
              <a:spcAft>
                <a:spcPts val="0"/>
              </a:spcAft>
              <a:defRPr sz="1600" b="1" i="0">
                <a:solidFill>
                  <a:srgbClr val="4657E8"/>
                </a:solidFill>
                <a:latin typeface="DejaVu Sans"/>
              </a:defRPr>
            </a:pPr>
            <a:r>
              <a:t>→</a:t>
            </a:r>
          </a:p>
        </p:txBody>
      </p:sp>
      <p:sp>
        <p:nvSpPr>
          <p:cNvPr id="14" name="Rounded Rectangle 13"/>
          <p:cNvSpPr/>
          <p:nvPr/>
        </p:nvSpPr>
        <p:spPr>
          <a:xfrm>
            <a:off x="3566160" y="3657600"/>
            <a:ext cx="2359152" cy="1298448"/>
          </a:xfrm>
          <a:prstGeom prst="roundRect">
            <a:avLst>
              <a:gd name="adj" fmla="val 12000"/>
            </a:avLst>
          </a:prstGeom>
          <a:solidFill>
            <a:srgbClr val="F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30752" y="3858768"/>
            <a:ext cx="475488" cy="329184"/>
          </a:xfrm>
          <a:prstGeom prst="rect">
            <a:avLst/>
          </a:prstGeom>
          <a:noFill/>
        </p:spPr>
        <p:txBody>
          <a:bodyPr wrap="square" lIns="0" tIns="0" rIns="0" bIns="0" anchor="t">
            <a:spAutoFit/>
          </a:bodyPr>
          <a:lstStyle/>
          <a:p>
            <a:pPr algn="l">
              <a:spcBef>
                <a:spcPts val="0"/>
              </a:spcBef>
              <a:spcAft>
                <a:spcPts val="0"/>
              </a:spcAft>
              <a:defRPr sz="1900" b="1" i="0">
                <a:solidFill>
                  <a:srgbClr val="F0609B"/>
                </a:solidFill>
                <a:latin typeface="DejaVu Sans"/>
              </a:defRPr>
            </a:pPr>
            <a:r>
              <a:t>02</a:t>
            </a:r>
          </a:p>
        </p:txBody>
      </p:sp>
      <p:sp>
        <p:nvSpPr>
          <p:cNvPr id="16" name="TextBox 15"/>
          <p:cNvSpPr txBox="1"/>
          <p:nvPr/>
        </p:nvSpPr>
        <p:spPr>
          <a:xfrm>
            <a:off x="4279392" y="3877056"/>
            <a:ext cx="1463040" cy="237744"/>
          </a:xfrm>
          <a:prstGeom prst="rect">
            <a:avLst/>
          </a:prstGeom>
          <a:noFill/>
        </p:spPr>
        <p:txBody>
          <a:bodyPr wrap="square" lIns="0" tIns="0" rIns="0" bIns="0" anchor="t">
            <a:spAutoFit/>
          </a:bodyPr>
          <a:lstStyle/>
          <a:p>
            <a:pPr algn="l">
              <a:spcBef>
                <a:spcPts val="0"/>
              </a:spcBef>
              <a:spcAft>
                <a:spcPts val="0"/>
              </a:spcAft>
              <a:defRPr sz="1000" b="1" i="0">
                <a:solidFill>
                  <a:srgbClr val="11162F"/>
                </a:solidFill>
                <a:latin typeface="DejaVu Sans"/>
              </a:defRPr>
            </a:pPr>
            <a:r>
              <a:t>APPLY</a:t>
            </a:r>
          </a:p>
        </p:txBody>
      </p:sp>
      <p:sp>
        <p:nvSpPr>
          <p:cNvPr id="17" name="TextBox 16"/>
          <p:cNvSpPr txBox="1"/>
          <p:nvPr/>
        </p:nvSpPr>
        <p:spPr>
          <a:xfrm>
            <a:off x="3749040" y="4471416"/>
            <a:ext cx="1965960" cy="292608"/>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Practice tasks</a:t>
            </a:r>
          </a:p>
        </p:txBody>
      </p:sp>
      <p:sp>
        <p:nvSpPr>
          <p:cNvPr id="18" name="TextBox 17"/>
          <p:cNvSpPr txBox="1"/>
          <p:nvPr/>
        </p:nvSpPr>
        <p:spPr>
          <a:xfrm>
            <a:off x="5998464" y="4142232"/>
            <a:ext cx="310896" cy="274320"/>
          </a:xfrm>
          <a:prstGeom prst="rect">
            <a:avLst/>
          </a:prstGeom>
          <a:noFill/>
        </p:spPr>
        <p:txBody>
          <a:bodyPr wrap="square" lIns="0" tIns="0" rIns="0" bIns="0" anchor="t">
            <a:spAutoFit/>
          </a:bodyPr>
          <a:lstStyle/>
          <a:p>
            <a:pPr algn="ctr">
              <a:spcBef>
                <a:spcPts val="0"/>
              </a:spcBef>
              <a:spcAft>
                <a:spcPts val="0"/>
              </a:spcAft>
              <a:defRPr sz="1600" b="1" i="0">
                <a:solidFill>
                  <a:srgbClr val="4657E8"/>
                </a:solidFill>
                <a:latin typeface="DejaVu Sans"/>
              </a:defRPr>
            </a:pPr>
            <a:r>
              <a:t>→</a:t>
            </a:r>
          </a:p>
        </p:txBody>
      </p:sp>
      <p:sp>
        <p:nvSpPr>
          <p:cNvPr id="19" name="Rounded Rectangle 18"/>
          <p:cNvSpPr/>
          <p:nvPr/>
        </p:nvSpPr>
        <p:spPr>
          <a:xfrm>
            <a:off x="6400800" y="3657600"/>
            <a:ext cx="2359152" cy="1298448"/>
          </a:xfrm>
          <a:prstGeom prst="roundRect">
            <a:avLst>
              <a:gd name="adj" fmla="val 12000"/>
            </a:avLst>
          </a:prstGeom>
          <a:solidFill>
            <a:srgbClr val="D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65392" y="3858768"/>
            <a:ext cx="475488" cy="329184"/>
          </a:xfrm>
          <a:prstGeom prst="rect">
            <a:avLst/>
          </a:prstGeom>
          <a:noFill/>
        </p:spPr>
        <p:txBody>
          <a:bodyPr wrap="square" lIns="0" tIns="0" rIns="0" bIns="0" anchor="t">
            <a:spAutoFit/>
          </a:bodyPr>
          <a:lstStyle/>
          <a:p>
            <a:pPr algn="l">
              <a:spcBef>
                <a:spcPts val="0"/>
              </a:spcBef>
              <a:spcAft>
                <a:spcPts val="0"/>
              </a:spcAft>
              <a:defRPr sz="1900" b="1" i="0">
                <a:solidFill>
                  <a:srgbClr val="239B78"/>
                </a:solidFill>
                <a:latin typeface="DejaVu Sans"/>
              </a:defRPr>
            </a:pPr>
            <a:r>
              <a:t>03</a:t>
            </a:r>
          </a:p>
        </p:txBody>
      </p:sp>
      <p:sp>
        <p:nvSpPr>
          <p:cNvPr id="21" name="TextBox 20"/>
          <p:cNvSpPr txBox="1"/>
          <p:nvPr/>
        </p:nvSpPr>
        <p:spPr>
          <a:xfrm>
            <a:off x="7114032" y="3877056"/>
            <a:ext cx="1463040" cy="237744"/>
          </a:xfrm>
          <a:prstGeom prst="rect">
            <a:avLst/>
          </a:prstGeom>
          <a:noFill/>
        </p:spPr>
        <p:txBody>
          <a:bodyPr wrap="square" lIns="0" tIns="0" rIns="0" bIns="0" anchor="t">
            <a:spAutoFit/>
          </a:bodyPr>
          <a:lstStyle/>
          <a:p>
            <a:pPr algn="l">
              <a:spcBef>
                <a:spcPts val="0"/>
              </a:spcBef>
              <a:spcAft>
                <a:spcPts val="0"/>
              </a:spcAft>
              <a:defRPr sz="1000" b="1" i="0">
                <a:solidFill>
                  <a:srgbClr val="11162F"/>
                </a:solidFill>
                <a:latin typeface="DejaVu Sans"/>
              </a:defRPr>
            </a:pPr>
            <a:r>
              <a:t>MAKE</a:t>
            </a:r>
          </a:p>
        </p:txBody>
      </p:sp>
      <p:sp>
        <p:nvSpPr>
          <p:cNvPr id="22" name="TextBox 21"/>
          <p:cNvSpPr txBox="1"/>
          <p:nvPr/>
        </p:nvSpPr>
        <p:spPr>
          <a:xfrm>
            <a:off x="6583680" y="4471416"/>
            <a:ext cx="1965960" cy="292608"/>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Learner outputs</a:t>
            </a:r>
          </a:p>
        </p:txBody>
      </p:sp>
      <p:sp>
        <p:nvSpPr>
          <p:cNvPr id="23" name="TextBox 22"/>
          <p:cNvSpPr txBox="1"/>
          <p:nvPr/>
        </p:nvSpPr>
        <p:spPr>
          <a:xfrm>
            <a:off x="8833104" y="4142232"/>
            <a:ext cx="310896" cy="274320"/>
          </a:xfrm>
          <a:prstGeom prst="rect">
            <a:avLst/>
          </a:prstGeom>
          <a:noFill/>
        </p:spPr>
        <p:txBody>
          <a:bodyPr wrap="square" lIns="0" tIns="0" rIns="0" bIns="0" anchor="t">
            <a:spAutoFit/>
          </a:bodyPr>
          <a:lstStyle/>
          <a:p>
            <a:pPr algn="ctr">
              <a:spcBef>
                <a:spcPts val="0"/>
              </a:spcBef>
              <a:spcAft>
                <a:spcPts val="0"/>
              </a:spcAft>
              <a:defRPr sz="1600" b="1" i="0">
                <a:solidFill>
                  <a:srgbClr val="4657E8"/>
                </a:solidFill>
                <a:latin typeface="DejaVu Sans"/>
              </a:defRPr>
            </a:pPr>
            <a:r>
              <a:t>→</a:t>
            </a:r>
          </a:p>
        </p:txBody>
      </p:sp>
      <p:sp>
        <p:nvSpPr>
          <p:cNvPr id="24" name="Rounded Rectangle 23"/>
          <p:cNvSpPr/>
          <p:nvPr/>
        </p:nvSpPr>
        <p:spPr>
          <a:xfrm>
            <a:off x="9235440" y="3657600"/>
            <a:ext cx="2359152" cy="1298448"/>
          </a:xfrm>
          <a:prstGeom prst="roundRect">
            <a:avLst>
              <a:gd name="adj" fmla="val 12000"/>
            </a:avLst>
          </a:prstGeom>
          <a:solidFill>
            <a:srgbClr val="EE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00032" y="3858768"/>
            <a:ext cx="475488" cy="329184"/>
          </a:xfrm>
          <a:prstGeom prst="rect">
            <a:avLst/>
          </a:prstGeom>
          <a:noFill/>
        </p:spPr>
        <p:txBody>
          <a:bodyPr wrap="square" lIns="0" tIns="0" rIns="0" bIns="0" anchor="t">
            <a:spAutoFit/>
          </a:bodyPr>
          <a:lstStyle/>
          <a:p>
            <a:pPr algn="l">
              <a:spcBef>
                <a:spcPts val="0"/>
              </a:spcBef>
              <a:spcAft>
                <a:spcPts val="0"/>
              </a:spcAft>
              <a:defRPr sz="1900" b="1" i="0">
                <a:solidFill>
                  <a:srgbClr val="11162F"/>
                </a:solidFill>
                <a:latin typeface="DejaVu Sans"/>
              </a:defRPr>
            </a:pPr>
            <a:r>
              <a:t>04</a:t>
            </a:r>
          </a:p>
        </p:txBody>
      </p:sp>
      <p:sp>
        <p:nvSpPr>
          <p:cNvPr id="26" name="TextBox 25"/>
          <p:cNvSpPr txBox="1"/>
          <p:nvPr/>
        </p:nvSpPr>
        <p:spPr>
          <a:xfrm>
            <a:off x="9948672" y="3877056"/>
            <a:ext cx="1463040" cy="237744"/>
          </a:xfrm>
          <a:prstGeom prst="rect">
            <a:avLst/>
          </a:prstGeom>
          <a:noFill/>
        </p:spPr>
        <p:txBody>
          <a:bodyPr wrap="square" lIns="0" tIns="0" rIns="0" bIns="0" anchor="t">
            <a:spAutoFit/>
          </a:bodyPr>
          <a:lstStyle/>
          <a:p>
            <a:pPr algn="l">
              <a:spcBef>
                <a:spcPts val="0"/>
              </a:spcBef>
              <a:spcAft>
                <a:spcPts val="0"/>
              </a:spcAft>
              <a:defRPr sz="1000" b="1" i="0">
                <a:solidFill>
                  <a:srgbClr val="11162F"/>
                </a:solidFill>
                <a:latin typeface="DejaVu Sans"/>
              </a:defRPr>
            </a:pPr>
            <a:r>
              <a:t>REFLECT</a:t>
            </a:r>
          </a:p>
        </p:txBody>
      </p:sp>
      <p:sp>
        <p:nvSpPr>
          <p:cNvPr id="27" name="TextBox 26"/>
          <p:cNvSpPr txBox="1"/>
          <p:nvPr/>
        </p:nvSpPr>
        <p:spPr>
          <a:xfrm>
            <a:off x="9418320" y="4471416"/>
            <a:ext cx="1965960" cy="292608"/>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Review and improvement</a:t>
            </a:r>
          </a:p>
        </p:txBody>
      </p:sp>
      <p:sp>
        <p:nvSpPr>
          <p:cNvPr id="28" name="TextBox 27"/>
          <p:cNvSpPr txBox="1"/>
          <p:nvPr/>
        </p:nvSpPr>
        <p:spPr>
          <a:xfrm>
            <a:off x="758952" y="5376672"/>
            <a:ext cx="9509760" cy="320040"/>
          </a:xfrm>
          <a:prstGeom prst="rect">
            <a:avLst/>
          </a:prstGeom>
          <a:noFill/>
        </p:spPr>
        <p:txBody>
          <a:bodyPr wrap="square" lIns="0" tIns="0" rIns="0" bIns="0" anchor="t">
            <a:spAutoFit/>
          </a:bodyPr>
          <a:lstStyle/>
          <a:p>
            <a:pPr algn="l">
              <a:spcBef>
                <a:spcPts val="0"/>
              </a:spcBef>
              <a:spcAft>
                <a:spcPts val="0"/>
              </a:spcAft>
              <a:defRPr sz="1300" b="1" i="0">
                <a:solidFill>
                  <a:srgbClr val="239B78"/>
                </a:solidFill>
                <a:latin typeface="DejaVu Sans"/>
              </a:defRPr>
            </a:pPr>
            <a:r>
              <a:t>The system linked each lesson to something the learner could try, produce and assess.</a:t>
            </a:r>
          </a:p>
        </p:txBody>
      </p:sp>
      <p:cxnSp>
        <p:nvCxnSpPr>
          <p:cNvPr id="29" name="Connector 28"/>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31" name="TextBox 30"/>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CASE STUDIES</a:t>
            </a:r>
          </a:p>
        </p:txBody>
      </p:sp>
      <p:sp>
        <p:nvSpPr>
          <p:cNvPr id="32" name="TextBox 31"/>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11 / 17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F92BA"/>
                </a:solidFill>
                <a:latin typeface="DejaVu Sans"/>
              </a:defRPr>
            </a:pPr>
            <a:r>
              <a:t>CASE 04  /  BRAND + CONTENT STRATEGY  /  2026</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FFFFFF"/>
                </a:solidFill>
                <a:latin typeface="DejaVu Sans"/>
              </a:defRPr>
            </a:pPr>
            <a:r>
              <a:t>REMSLEEP</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D8DBE7"/>
                </a:solidFill>
                <a:latin typeface="DejaVu Sans"/>
              </a:defRPr>
            </a:pPr>
            <a:r>
              <a:t>A brand needs direction it can keep.</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msleep_moon.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12264"/>
            <a:ext cx="6766560" cy="1133856"/>
          </a:xfrm>
          <a:prstGeom prst="rect">
            <a:avLst/>
          </a:prstGeom>
          <a:noFill/>
        </p:spPr>
        <p:txBody>
          <a:bodyPr wrap="square" lIns="0" tIns="0" rIns="0" bIns="0" anchor="t">
            <a:spAutoFit/>
          </a:bodyPr>
          <a:lstStyle/>
          <a:p>
            <a:pPr algn="l">
              <a:spcBef>
                <a:spcPts val="0"/>
              </a:spcBef>
              <a:spcAft>
                <a:spcPts val="0"/>
              </a:spcAft>
              <a:defRPr sz="1800" b="0" i="0">
                <a:solidFill>
                  <a:srgbClr val="FFFFFF"/>
                </a:solidFill>
                <a:latin typeface="DejaVu Sans"/>
              </a:defRPr>
            </a:pPr>
            <a:r>
              <a:t>The work started with an audience looking for quality and comfort without being spoken to as if luxury were effortless. I built the strategy so the brand could make that promise consistently.</a:t>
            </a:r>
          </a:p>
        </p:txBody>
      </p:sp>
      <p:sp>
        <p:nvSpPr>
          <p:cNvPr id="9" name="Rounded Rectangle 8"/>
          <p:cNvSpPr/>
          <p:nvPr/>
        </p:nvSpPr>
        <p:spPr>
          <a:xfrm>
            <a:off x="713232" y="3657600"/>
            <a:ext cx="4709160" cy="1371600"/>
          </a:xfrm>
          <a:prstGeom prst="roundRect">
            <a:avLst>
              <a:gd name="adj" fmla="val 12000"/>
            </a:avLst>
          </a:prstGeom>
          <a:solidFill>
            <a:srgbClr val="1C2446"/>
          </a:solidFill>
          <a:ln w="12700">
            <a:solidFill>
              <a:srgbClr val="3841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3922776"/>
            <a:ext cx="1920240" cy="228600"/>
          </a:xfrm>
          <a:prstGeom prst="rect">
            <a:avLst/>
          </a:prstGeom>
          <a:noFill/>
        </p:spPr>
        <p:txBody>
          <a:bodyPr wrap="square" lIns="0" tIns="0" rIns="0" bIns="0" anchor="t">
            <a:spAutoFit/>
          </a:bodyPr>
          <a:lstStyle/>
          <a:p>
            <a:pPr algn="l">
              <a:spcBef>
                <a:spcPts val="0"/>
              </a:spcBef>
              <a:spcAft>
                <a:spcPts val="0"/>
              </a:spcAft>
              <a:defRPr sz="900" b="1" i="0">
                <a:solidFill>
                  <a:srgbClr val="FF92BA"/>
                </a:solidFill>
                <a:latin typeface="DejaVu Sans"/>
              </a:defRPr>
            </a:pPr>
            <a:r>
              <a:t>BRAND FOUNDATION</a:t>
            </a:r>
          </a:p>
        </p:txBody>
      </p:sp>
      <p:sp>
        <p:nvSpPr>
          <p:cNvPr id="11" name="TextBox 10"/>
          <p:cNvSpPr txBox="1"/>
          <p:nvPr/>
        </p:nvSpPr>
        <p:spPr>
          <a:xfrm>
            <a:off x="1005840" y="4261104"/>
            <a:ext cx="3931920" cy="621792"/>
          </a:xfrm>
          <a:prstGeom prst="rect">
            <a:avLst/>
          </a:prstGeom>
          <a:noFill/>
        </p:spPr>
        <p:txBody>
          <a:bodyPr wrap="square" lIns="0" tIns="0" rIns="0" bIns="0" anchor="t">
            <a:spAutoFit/>
          </a:bodyPr>
          <a:lstStyle/>
          <a:p>
            <a:pPr algn="l">
              <a:spcBef>
                <a:spcPts val="0"/>
              </a:spcBef>
              <a:spcAft>
                <a:spcPts val="0"/>
              </a:spcAft>
              <a:defRPr sz="1300" b="0" i="0">
                <a:solidFill>
                  <a:srgbClr val="FFFFFF"/>
                </a:solidFill>
                <a:latin typeface="DejaVu Sans"/>
              </a:defRPr>
            </a:pPr>
            <a:r>
              <a:t>Audience and competitor mapping</a:t>
            </a:r>
          </a:p>
          <a:p>
            <a:pPr algn="l">
              <a:spcBef>
                <a:spcPts val="0"/>
              </a:spcBef>
              <a:spcAft>
                <a:spcPts val="0"/>
              </a:spcAft>
              <a:defRPr sz="1300" b="0" i="0">
                <a:solidFill>
                  <a:srgbClr val="FFFFFF"/>
                </a:solidFill>
                <a:latin typeface="DejaVu Sans"/>
              </a:defRPr>
            </a:pPr>
            <a:r>
              <a:t>Positioning and voice principles</a:t>
            </a:r>
          </a:p>
        </p:txBody>
      </p:sp>
      <p:sp>
        <p:nvSpPr>
          <p:cNvPr id="12" name="Rounded Rectangle 11"/>
          <p:cNvSpPr/>
          <p:nvPr/>
        </p:nvSpPr>
        <p:spPr>
          <a:xfrm>
            <a:off x="5696712" y="3657600"/>
            <a:ext cx="5715000" cy="1371600"/>
          </a:xfrm>
          <a:prstGeom prst="roundRect">
            <a:avLst>
              <a:gd name="adj" fmla="val 12000"/>
            </a:avLst>
          </a:prstGeom>
          <a:solidFill>
            <a:srgbClr val="1C2446"/>
          </a:solidFill>
          <a:ln w="12700">
            <a:solidFill>
              <a:srgbClr val="3841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98464" y="3922776"/>
            <a:ext cx="2286000" cy="228600"/>
          </a:xfrm>
          <a:prstGeom prst="rect">
            <a:avLst/>
          </a:prstGeom>
          <a:noFill/>
        </p:spPr>
        <p:txBody>
          <a:bodyPr wrap="square" lIns="0" tIns="0" rIns="0" bIns="0" anchor="t">
            <a:spAutoFit/>
          </a:bodyPr>
          <a:lstStyle/>
          <a:p>
            <a:pPr algn="l">
              <a:spcBef>
                <a:spcPts val="0"/>
              </a:spcBef>
              <a:spcAft>
                <a:spcPts val="0"/>
              </a:spcAft>
              <a:defRPr sz="900" b="1" i="0">
                <a:solidFill>
                  <a:srgbClr val="82D8B9"/>
                </a:solidFill>
                <a:latin typeface="DejaVu Sans"/>
              </a:defRPr>
            </a:pPr>
            <a:r>
              <a:t>CONTENT OPERATIONS</a:t>
            </a:r>
          </a:p>
        </p:txBody>
      </p:sp>
      <p:sp>
        <p:nvSpPr>
          <p:cNvPr id="14" name="TextBox 13"/>
          <p:cNvSpPr txBox="1"/>
          <p:nvPr/>
        </p:nvSpPr>
        <p:spPr>
          <a:xfrm>
            <a:off x="5998464" y="4261104"/>
            <a:ext cx="4846320" cy="621792"/>
          </a:xfrm>
          <a:prstGeom prst="rect">
            <a:avLst/>
          </a:prstGeom>
          <a:noFill/>
        </p:spPr>
        <p:txBody>
          <a:bodyPr wrap="square" lIns="0" tIns="0" rIns="0" bIns="0" anchor="t">
            <a:spAutoFit/>
          </a:bodyPr>
          <a:lstStyle/>
          <a:p>
            <a:pPr algn="l">
              <a:spcBef>
                <a:spcPts val="0"/>
              </a:spcBef>
              <a:spcAft>
                <a:spcPts val="0"/>
              </a:spcAft>
              <a:defRPr sz="1300" b="0" i="0">
                <a:solidFill>
                  <a:srgbClr val="FFFFFF"/>
                </a:solidFill>
                <a:latin typeface="DejaVu Sans"/>
              </a:defRPr>
            </a:pPr>
            <a:r>
              <a:t>Content territories, editorial guidance and a reusable operations bible, including an AI prompt and workflow system.</a:t>
            </a:r>
          </a:p>
        </p:txBody>
      </p:sp>
      <p:sp>
        <p:nvSpPr>
          <p:cNvPr id="15" name="TextBox 14"/>
          <p:cNvSpPr txBox="1"/>
          <p:nvPr/>
        </p:nvSpPr>
        <p:spPr>
          <a:xfrm>
            <a:off x="749808" y="5404104"/>
            <a:ext cx="10058400" cy="292608"/>
          </a:xfrm>
          <a:prstGeom prst="rect">
            <a:avLst/>
          </a:prstGeom>
          <a:noFill/>
        </p:spPr>
        <p:txBody>
          <a:bodyPr wrap="square" lIns="0" tIns="0" rIns="0" bIns="0" anchor="t">
            <a:spAutoFit/>
          </a:bodyPr>
          <a:lstStyle/>
          <a:p>
            <a:pPr algn="l">
              <a:spcBef>
                <a:spcPts val="0"/>
              </a:spcBef>
              <a:spcAft>
                <a:spcPts val="0"/>
              </a:spcAft>
              <a:defRPr sz="1200" b="0" i="0">
                <a:solidFill>
                  <a:srgbClr val="DDE3F2"/>
                </a:solidFill>
                <a:latin typeface="DejaVu Sans"/>
              </a:defRPr>
            </a:pPr>
            <a:r>
              <a:t>The brand owner implemented the fixed brand directives in place of changing “vibes and ideals.”</a:t>
            </a:r>
          </a:p>
        </p:txBody>
      </p:sp>
      <p:cxnSp>
        <p:nvCxnSpPr>
          <p:cNvPr id="16" name="Connector 15"/>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18" name="TextBox 17"/>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CASE STUDIES</a:t>
            </a:r>
          </a:p>
        </p:txBody>
      </p:sp>
      <p:sp>
        <p:nvSpPr>
          <p:cNvPr id="19" name="TextBox 18"/>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12 / 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CASE 05  /  BRAND OPERATIONS  /  2025</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TONY &amp; CO</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Clear communication keeps good work moving.</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tony_network.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03120"/>
            <a:ext cx="6720840" cy="822960"/>
          </a:xfrm>
          <a:prstGeom prst="rect">
            <a:avLst/>
          </a:prstGeom>
          <a:noFill/>
        </p:spPr>
        <p:txBody>
          <a:bodyPr wrap="square" lIns="0" tIns="0" rIns="0" bIns="0" anchor="t">
            <a:spAutoFit/>
          </a:bodyPr>
          <a:lstStyle/>
          <a:p>
            <a:pPr algn="l">
              <a:spcBef>
                <a:spcPts val="0"/>
              </a:spcBef>
              <a:spcAft>
                <a:spcPts val="0"/>
              </a:spcAft>
              <a:defRPr sz="1800" b="0" i="0">
                <a:solidFill>
                  <a:srgbClr val="1A2038"/>
                </a:solidFill>
                <a:latin typeface="DejaVu Sans"/>
              </a:defRPr>
            </a:pPr>
            <a:r>
              <a:t>I coordinated communication between clients, Ameji and staff, helping briefs, decisions, updates and handoffs move through the work.</a:t>
            </a:r>
          </a:p>
        </p:txBody>
      </p:sp>
      <p:sp>
        <p:nvSpPr>
          <p:cNvPr id="9" name="Rounded Rectangle 8"/>
          <p:cNvSpPr/>
          <p:nvPr/>
        </p:nvSpPr>
        <p:spPr>
          <a:xfrm>
            <a:off x="768096" y="3493008"/>
            <a:ext cx="3127248" cy="1097280"/>
          </a:xfrm>
          <a:prstGeom prst="roundRect">
            <a:avLst>
              <a:gd name="adj" fmla="val 12000"/>
            </a:avLst>
          </a:prstGeom>
          <a:solidFill>
            <a:srgbClr val="F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3730752"/>
            <a:ext cx="2743200" cy="228600"/>
          </a:xfrm>
          <a:prstGeom prst="rect">
            <a:avLst/>
          </a:prstGeom>
          <a:noFill/>
        </p:spPr>
        <p:txBody>
          <a:bodyPr wrap="square" lIns="0" tIns="0" rIns="0" bIns="0" anchor="t">
            <a:spAutoFit/>
          </a:bodyPr>
          <a:lstStyle/>
          <a:p>
            <a:pPr algn="ctr">
              <a:spcBef>
                <a:spcPts val="0"/>
              </a:spcBef>
              <a:spcAft>
                <a:spcPts val="0"/>
              </a:spcAft>
              <a:defRPr sz="1000" b="1" i="0">
                <a:solidFill>
                  <a:srgbClr val="F0609B"/>
                </a:solidFill>
                <a:latin typeface="DejaVu Sans"/>
              </a:defRPr>
            </a:pPr>
            <a:r>
              <a:t>CLIENTS</a:t>
            </a:r>
          </a:p>
        </p:txBody>
      </p:sp>
      <p:sp>
        <p:nvSpPr>
          <p:cNvPr id="11" name="TextBox 10"/>
          <p:cNvSpPr txBox="1"/>
          <p:nvPr/>
        </p:nvSpPr>
        <p:spPr>
          <a:xfrm>
            <a:off x="950976" y="4096512"/>
            <a:ext cx="2743200" cy="265176"/>
          </a:xfrm>
          <a:prstGeom prst="rect">
            <a:avLst/>
          </a:prstGeom>
          <a:noFill/>
        </p:spPr>
        <p:txBody>
          <a:bodyPr wrap="square" lIns="0" tIns="0" rIns="0" bIns="0" anchor="t">
            <a:spAutoFit/>
          </a:bodyPr>
          <a:lstStyle/>
          <a:p>
            <a:pPr algn="ctr">
              <a:spcBef>
                <a:spcPts val="0"/>
              </a:spcBef>
              <a:spcAft>
                <a:spcPts val="0"/>
              </a:spcAft>
              <a:defRPr sz="1100" b="0" i="0">
                <a:solidFill>
                  <a:srgbClr val="1A2038"/>
                </a:solidFill>
                <a:latin typeface="DejaVu Sans"/>
              </a:defRPr>
            </a:pPr>
            <a:r>
              <a:t>Briefs and updates</a:t>
            </a:r>
          </a:p>
        </p:txBody>
      </p:sp>
      <p:sp>
        <p:nvSpPr>
          <p:cNvPr id="12" name="TextBox 11"/>
          <p:cNvSpPr txBox="1"/>
          <p:nvPr/>
        </p:nvSpPr>
        <p:spPr>
          <a:xfrm>
            <a:off x="3959352" y="3849624"/>
            <a:ext cx="393192" cy="274320"/>
          </a:xfrm>
          <a:prstGeom prst="rect">
            <a:avLst/>
          </a:prstGeom>
          <a:noFill/>
        </p:spPr>
        <p:txBody>
          <a:bodyPr wrap="square" lIns="0" tIns="0" rIns="0" bIns="0" anchor="t">
            <a:spAutoFit/>
          </a:bodyPr>
          <a:lstStyle/>
          <a:p>
            <a:pPr algn="ctr">
              <a:spcBef>
                <a:spcPts val="0"/>
              </a:spcBef>
              <a:spcAft>
                <a:spcPts val="0"/>
              </a:spcAft>
              <a:defRPr sz="1800" b="1" i="0">
                <a:solidFill>
                  <a:srgbClr val="11162F"/>
                </a:solidFill>
                <a:latin typeface="DejaVu Sans"/>
              </a:defRPr>
            </a:pPr>
            <a:r>
              <a:t>↔</a:t>
            </a:r>
          </a:p>
        </p:txBody>
      </p:sp>
      <p:sp>
        <p:nvSpPr>
          <p:cNvPr id="13" name="Rounded Rectangle 12"/>
          <p:cNvSpPr/>
          <p:nvPr/>
        </p:nvSpPr>
        <p:spPr>
          <a:xfrm>
            <a:off x="4471416" y="3493008"/>
            <a:ext cx="3127248" cy="1097280"/>
          </a:xfrm>
          <a:prstGeom prst="roundRect">
            <a:avLst>
              <a:gd name="adj" fmla="val 12000"/>
            </a:avLst>
          </a:prstGeom>
          <a:solidFill>
            <a:srgbClr val="E6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4296" y="3730752"/>
            <a:ext cx="2743200" cy="228600"/>
          </a:xfrm>
          <a:prstGeom prst="rect">
            <a:avLst/>
          </a:prstGeom>
          <a:noFill/>
        </p:spPr>
        <p:txBody>
          <a:bodyPr wrap="square" lIns="0" tIns="0" rIns="0" bIns="0" anchor="t">
            <a:spAutoFit/>
          </a:bodyPr>
          <a:lstStyle/>
          <a:p>
            <a:pPr algn="ctr">
              <a:spcBef>
                <a:spcPts val="0"/>
              </a:spcBef>
              <a:spcAft>
                <a:spcPts val="0"/>
              </a:spcAft>
              <a:defRPr sz="1000" b="1" i="0">
                <a:solidFill>
                  <a:srgbClr val="4657E8"/>
                </a:solidFill>
                <a:latin typeface="DejaVu Sans"/>
              </a:defRPr>
            </a:pPr>
            <a:r>
              <a:t>AMEJI</a:t>
            </a:r>
          </a:p>
        </p:txBody>
      </p:sp>
      <p:sp>
        <p:nvSpPr>
          <p:cNvPr id="15" name="TextBox 14"/>
          <p:cNvSpPr txBox="1"/>
          <p:nvPr/>
        </p:nvSpPr>
        <p:spPr>
          <a:xfrm>
            <a:off x="4654296" y="4096512"/>
            <a:ext cx="2743200" cy="265176"/>
          </a:xfrm>
          <a:prstGeom prst="rect">
            <a:avLst/>
          </a:prstGeom>
          <a:noFill/>
        </p:spPr>
        <p:txBody>
          <a:bodyPr wrap="square" lIns="0" tIns="0" rIns="0" bIns="0" anchor="t">
            <a:spAutoFit/>
          </a:bodyPr>
          <a:lstStyle/>
          <a:p>
            <a:pPr algn="ctr">
              <a:spcBef>
                <a:spcPts val="0"/>
              </a:spcBef>
              <a:spcAft>
                <a:spcPts val="0"/>
              </a:spcAft>
              <a:defRPr sz="1100" b="0" i="0">
                <a:solidFill>
                  <a:srgbClr val="1A2038"/>
                </a:solidFill>
                <a:latin typeface="DejaVu Sans"/>
              </a:defRPr>
            </a:pPr>
            <a:r>
              <a:t>Direction and decisions</a:t>
            </a:r>
          </a:p>
        </p:txBody>
      </p:sp>
      <p:sp>
        <p:nvSpPr>
          <p:cNvPr id="16" name="TextBox 15"/>
          <p:cNvSpPr txBox="1"/>
          <p:nvPr/>
        </p:nvSpPr>
        <p:spPr>
          <a:xfrm>
            <a:off x="7662671" y="3849624"/>
            <a:ext cx="393192" cy="274320"/>
          </a:xfrm>
          <a:prstGeom prst="rect">
            <a:avLst/>
          </a:prstGeom>
          <a:noFill/>
        </p:spPr>
        <p:txBody>
          <a:bodyPr wrap="square" lIns="0" tIns="0" rIns="0" bIns="0" anchor="t">
            <a:spAutoFit/>
          </a:bodyPr>
          <a:lstStyle/>
          <a:p>
            <a:pPr algn="ctr">
              <a:spcBef>
                <a:spcPts val="0"/>
              </a:spcBef>
              <a:spcAft>
                <a:spcPts val="0"/>
              </a:spcAft>
              <a:defRPr sz="1800" b="1" i="0">
                <a:solidFill>
                  <a:srgbClr val="11162F"/>
                </a:solidFill>
                <a:latin typeface="DejaVu Sans"/>
              </a:defRPr>
            </a:pPr>
            <a:r>
              <a:t>↔</a:t>
            </a:r>
          </a:p>
        </p:txBody>
      </p:sp>
      <p:sp>
        <p:nvSpPr>
          <p:cNvPr id="17" name="Rounded Rectangle 16"/>
          <p:cNvSpPr/>
          <p:nvPr/>
        </p:nvSpPr>
        <p:spPr>
          <a:xfrm>
            <a:off x="8174736" y="3493008"/>
            <a:ext cx="3127248" cy="1097280"/>
          </a:xfrm>
          <a:prstGeom prst="roundRect">
            <a:avLst>
              <a:gd name="adj" fmla="val 12000"/>
            </a:avLst>
          </a:prstGeom>
          <a:solidFill>
            <a:srgbClr val="D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57615" y="3730752"/>
            <a:ext cx="2743200" cy="228600"/>
          </a:xfrm>
          <a:prstGeom prst="rect">
            <a:avLst/>
          </a:prstGeom>
          <a:noFill/>
        </p:spPr>
        <p:txBody>
          <a:bodyPr wrap="square" lIns="0" tIns="0" rIns="0" bIns="0" anchor="t">
            <a:spAutoFit/>
          </a:bodyPr>
          <a:lstStyle/>
          <a:p>
            <a:pPr algn="ctr">
              <a:spcBef>
                <a:spcPts val="0"/>
              </a:spcBef>
              <a:spcAft>
                <a:spcPts val="0"/>
              </a:spcAft>
              <a:defRPr sz="1000" b="1" i="0">
                <a:solidFill>
                  <a:srgbClr val="239B78"/>
                </a:solidFill>
                <a:latin typeface="DejaVu Sans"/>
              </a:defRPr>
            </a:pPr>
            <a:r>
              <a:t>TEAM</a:t>
            </a:r>
          </a:p>
        </p:txBody>
      </p:sp>
      <p:sp>
        <p:nvSpPr>
          <p:cNvPr id="19" name="TextBox 18"/>
          <p:cNvSpPr txBox="1"/>
          <p:nvPr/>
        </p:nvSpPr>
        <p:spPr>
          <a:xfrm>
            <a:off x="8357615" y="4096512"/>
            <a:ext cx="2743200" cy="265176"/>
          </a:xfrm>
          <a:prstGeom prst="rect">
            <a:avLst/>
          </a:prstGeom>
          <a:noFill/>
        </p:spPr>
        <p:txBody>
          <a:bodyPr wrap="square" lIns="0" tIns="0" rIns="0" bIns="0" anchor="t">
            <a:spAutoFit/>
          </a:bodyPr>
          <a:lstStyle/>
          <a:p>
            <a:pPr algn="ctr">
              <a:spcBef>
                <a:spcPts val="0"/>
              </a:spcBef>
              <a:spcAft>
                <a:spcPts val="0"/>
              </a:spcAft>
              <a:defRPr sz="1100" b="0" i="0">
                <a:solidFill>
                  <a:srgbClr val="1A2038"/>
                </a:solidFill>
                <a:latin typeface="DejaVu Sans"/>
              </a:defRPr>
            </a:pPr>
            <a:r>
              <a:t>Handoffs and delivery</a:t>
            </a:r>
          </a:p>
        </p:txBody>
      </p:sp>
      <p:sp>
        <p:nvSpPr>
          <p:cNvPr id="20" name="Rounded Rectangle 19"/>
          <p:cNvSpPr/>
          <p:nvPr/>
        </p:nvSpPr>
        <p:spPr>
          <a:xfrm>
            <a:off x="768096" y="4983480"/>
            <a:ext cx="10469880" cy="621792"/>
          </a:xfrm>
          <a:prstGeom prst="roundRect">
            <a:avLst>
              <a:gd name="adj" fmla="val 12000"/>
            </a:avLst>
          </a:prstGeom>
          <a:solidFill>
            <a:srgbClr val="11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33271" y="5157216"/>
            <a:ext cx="9966960" cy="256032"/>
          </a:xfrm>
          <a:prstGeom prst="rect">
            <a:avLst/>
          </a:prstGeom>
          <a:noFill/>
        </p:spPr>
        <p:txBody>
          <a:bodyPr wrap="square" lIns="0" tIns="0" rIns="0" bIns="0" anchor="t">
            <a:spAutoFit/>
          </a:bodyPr>
          <a:lstStyle/>
          <a:p>
            <a:pPr algn="l">
              <a:spcBef>
                <a:spcPts val="0"/>
              </a:spcBef>
              <a:spcAft>
                <a:spcPts val="0"/>
              </a:spcAft>
              <a:defRPr sz="1100" b="0" i="0">
                <a:solidFill>
                  <a:srgbClr val="FFFFFF"/>
                </a:solidFill>
                <a:latin typeface="DejaVu Sans"/>
              </a:defRPr>
            </a:pPr>
            <a:r>
              <a:t>404 FUND  /  Tony &amp; Co client work. I supported coordination around the brand and founder-facing work.</a:t>
            </a:r>
          </a:p>
        </p:txBody>
      </p:sp>
      <p:cxnSp>
        <p:nvCxnSpPr>
          <p:cNvPr id="22" name="Connector 21"/>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4" name="TextBox 23"/>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CASE STUDIES</a:t>
            </a:r>
          </a:p>
        </p:txBody>
      </p:sp>
      <p:sp>
        <p:nvSpPr>
          <p:cNvPr id="25" name="TextBox 24"/>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13 / 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CASE 06  /  CAMPAIGN + CONTENT STRATEGY  /  2022–2025</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11162F"/>
                </a:solidFill>
                <a:latin typeface="DejaVu Sans"/>
              </a:defRPr>
            </a:pPr>
            <a:r>
              <a:t>AIESEC</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One idea, understood in each context.</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iesec_globe.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21408"/>
            <a:ext cx="6903720" cy="1371600"/>
          </a:xfrm>
          <a:prstGeom prst="rect">
            <a:avLst/>
          </a:prstGeom>
          <a:noFill/>
        </p:spPr>
        <p:txBody>
          <a:bodyPr wrap="square" lIns="0" tIns="0" rIns="0" bIns="0" anchor="t">
            <a:spAutoFit/>
          </a:bodyPr>
          <a:lstStyle/>
          <a:p>
            <a:pPr algn="l">
              <a:spcBef>
                <a:spcPts val="0"/>
              </a:spcBef>
              <a:spcAft>
                <a:spcPts val="0"/>
              </a:spcAft>
              <a:defRPr sz="1700" b="0" i="0">
                <a:solidFill>
                  <a:srgbClr val="1A2038"/>
                </a:solidFill>
                <a:latin typeface="DejaVu Sans"/>
              </a:defRPr>
            </a:pPr>
            <a:r>
              <a:t>My AIESEC work involved collaboration across entities, including the UAE and Albania. That work kept attention on how a campaign travels: the core idea has to remain clear, while the examples and language need to make sense to the people receiving them.</a:t>
            </a:r>
          </a:p>
        </p:txBody>
      </p:sp>
      <p:sp>
        <p:nvSpPr>
          <p:cNvPr id="9" name="Rounded Rectangle 8"/>
          <p:cNvSpPr/>
          <p:nvPr/>
        </p:nvSpPr>
        <p:spPr>
          <a:xfrm>
            <a:off x="7863840" y="2057400"/>
            <a:ext cx="3566160" cy="3246120"/>
          </a:xfrm>
          <a:prstGeom prst="roundRect">
            <a:avLst>
              <a:gd name="adj" fmla="val 12000"/>
            </a:avLst>
          </a:prstGeom>
          <a:solidFill>
            <a:srgbClr val="E6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93024" y="2368296"/>
            <a:ext cx="2880360" cy="603504"/>
          </a:xfrm>
          <a:prstGeom prst="rect">
            <a:avLst/>
          </a:prstGeom>
          <a:noFill/>
        </p:spPr>
        <p:txBody>
          <a:bodyPr wrap="square" lIns="0" tIns="0" rIns="0" bIns="0" anchor="t">
            <a:spAutoFit/>
          </a:bodyPr>
          <a:lstStyle/>
          <a:p>
            <a:pPr algn="l">
              <a:spcBef>
                <a:spcPts val="0"/>
              </a:spcBef>
              <a:spcAft>
                <a:spcPts val="0"/>
              </a:spcAft>
              <a:defRPr sz="1400" b="1" i="0">
                <a:solidFill>
                  <a:srgbClr val="11162F"/>
                </a:solidFill>
                <a:latin typeface="DejaVu Sans"/>
              </a:defRPr>
            </a:pPr>
            <a:r>
              <a:t>A CAMPAIGN</a:t>
            </a:r>
          </a:p>
          <a:p>
            <a:pPr algn="l">
              <a:spcBef>
                <a:spcPts val="0"/>
              </a:spcBef>
              <a:spcAft>
                <a:spcPts val="0"/>
              </a:spcAft>
              <a:defRPr sz="1400" b="1" i="0">
                <a:solidFill>
                  <a:srgbClr val="11162F"/>
                </a:solidFill>
                <a:latin typeface="DejaVu Sans"/>
              </a:defRPr>
            </a:pPr>
            <a:r>
              <a:t>NEEDS TWO THINGS</a:t>
            </a:r>
          </a:p>
        </p:txBody>
      </p:sp>
      <p:sp>
        <p:nvSpPr>
          <p:cNvPr id="11" name="TextBox 10"/>
          <p:cNvSpPr txBox="1"/>
          <p:nvPr/>
        </p:nvSpPr>
        <p:spPr>
          <a:xfrm>
            <a:off x="8193024" y="3264408"/>
            <a:ext cx="2743200" cy="475488"/>
          </a:xfrm>
          <a:prstGeom prst="rect">
            <a:avLst/>
          </a:prstGeom>
          <a:noFill/>
        </p:spPr>
        <p:txBody>
          <a:bodyPr wrap="square" lIns="0" tIns="0" rIns="0" bIns="0" anchor="t">
            <a:spAutoFit/>
          </a:bodyPr>
          <a:lstStyle/>
          <a:p>
            <a:pPr algn="l">
              <a:spcBef>
                <a:spcPts val="0"/>
              </a:spcBef>
              <a:spcAft>
                <a:spcPts val="0"/>
              </a:spcAft>
              <a:defRPr sz="1400" b="1" i="0">
                <a:solidFill>
                  <a:srgbClr val="4657E8"/>
                </a:solidFill>
                <a:latin typeface="DejaVu Sans"/>
              </a:defRPr>
            </a:pPr>
            <a:r>
              <a:t>A clear idea people can carry.</a:t>
            </a:r>
          </a:p>
        </p:txBody>
      </p:sp>
      <p:cxnSp>
        <p:nvCxnSpPr>
          <p:cNvPr id="12" name="Connector 11"/>
          <p:cNvCxnSpPr/>
          <p:nvPr/>
        </p:nvCxnSpPr>
        <p:spPr>
          <a:xfrm>
            <a:off x="8193024" y="3904487"/>
            <a:ext cx="2926080" cy="0"/>
          </a:xfrm>
          <a:prstGeom prst="line">
            <a:avLst/>
          </a:prstGeom>
          <a:ln w="12700">
            <a:solidFill>
              <a:srgbClr val="B6BD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93024" y="4187952"/>
            <a:ext cx="2743200" cy="566928"/>
          </a:xfrm>
          <a:prstGeom prst="rect">
            <a:avLst/>
          </a:prstGeom>
          <a:noFill/>
        </p:spPr>
        <p:txBody>
          <a:bodyPr wrap="square" lIns="0" tIns="0" rIns="0" bIns="0" anchor="t">
            <a:spAutoFit/>
          </a:bodyPr>
          <a:lstStyle/>
          <a:p>
            <a:pPr algn="l">
              <a:spcBef>
                <a:spcPts val="0"/>
              </a:spcBef>
              <a:spcAft>
                <a:spcPts val="0"/>
              </a:spcAft>
              <a:defRPr sz="1400" b="1" i="0">
                <a:solidFill>
                  <a:srgbClr val="239B78"/>
                </a:solidFill>
                <a:latin typeface="DejaVu Sans"/>
              </a:defRPr>
            </a:pPr>
            <a:r>
              <a:t>A local expression that feels familiar.</a:t>
            </a:r>
          </a:p>
        </p:txBody>
      </p:sp>
      <p:sp>
        <p:nvSpPr>
          <p:cNvPr id="14" name="TextBox 13"/>
          <p:cNvSpPr txBox="1"/>
          <p:nvPr/>
        </p:nvSpPr>
        <p:spPr>
          <a:xfrm>
            <a:off x="749808" y="5394960"/>
            <a:ext cx="9875520" cy="274320"/>
          </a:xfrm>
          <a:prstGeom prst="rect">
            <a:avLst/>
          </a:prstGeom>
          <a:noFill/>
        </p:spPr>
        <p:txBody>
          <a:bodyPr wrap="square" lIns="0" tIns="0" rIns="0" bIns="0" anchor="t">
            <a:spAutoFit/>
          </a:bodyPr>
          <a:lstStyle/>
          <a:p>
            <a:pPr algn="l">
              <a:spcBef>
                <a:spcPts val="0"/>
              </a:spcBef>
              <a:spcAft>
                <a:spcPts val="0"/>
              </a:spcAft>
              <a:defRPr sz="1100" b="0" i="1">
                <a:solidFill>
                  <a:srgbClr val="737A91"/>
                </a:solidFill>
                <a:latin typeface="DejaVu Sans"/>
              </a:defRPr>
            </a:pPr>
            <a:r>
              <a:t>Rent A Dress appears earlier as a proposed AIESEC concept, not an executed campaign.</a:t>
            </a:r>
          </a:p>
        </p:txBody>
      </p:sp>
      <p:cxnSp>
        <p:nvCxnSpPr>
          <p:cNvPr id="15" name="Connector 14"/>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17" name="TextBox 16"/>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CASE STUDIES</a:t>
            </a:r>
          </a:p>
        </p:txBody>
      </p:sp>
      <p:sp>
        <p:nvSpPr>
          <p:cNvPr id="18" name="TextBox 17"/>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14 / 17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0609B"/>
                </a:solidFill>
                <a:latin typeface="DejaVu Sans"/>
              </a:defRPr>
            </a:pPr>
            <a:r>
              <a:t>CASE 07  /  ADVISORY + RESEARCH  /  JANUARY 2024</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2900" b="1" i="0">
                <a:solidFill>
                  <a:srgbClr val="11162F"/>
                </a:solidFill>
                <a:latin typeface="DejaVu Sans"/>
              </a:defRPr>
            </a:pPr>
            <a:r>
              <a:t>HAWKSWORTH ADVISORS</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737A91"/>
                </a:solidFill>
                <a:latin typeface="DejaVu Sans"/>
              </a:defRPr>
            </a:pPr>
            <a:r>
              <a:t>Research made the recommendation useful.</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hawksworth_bridge.png"/>
          <p:cNvPicPr>
            <a:picLocks noChangeAspect="1"/>
          </p:cNvPicPr>
          <p:nvPr/>
        </p:nvPicPr>
        <p:blipFill>
          <a:blip r:embed="rId3"/>
          <a:stretch>
            <a:fillRect/>
          </a:stretch>
        </p:blipFill>
        <p:spPr>
          <a:xfrm>
            <a:off x="10808208" y="658368"/>
            <a:ext cx="960120" cy="960120"/>
          </a:xfrm>
          <a:prstGeom prst="rect">
            <a:avLst/>
          </a:prstGeom>
        </p:spPr>
      </p:pic>
      <p:sp>
        <p:nvSpPr>
          <p:cNvPr id="8" name="TextBox 7"/>
          <p:cNvSpPr txBox="1"/>
          <p:nvPr/>
        </p:nvSpPr>
        <p:spPr>
          <a:xfrm>
            <a:off x="713232" y="2139696"/>
            <a:ext cx="6903720" cy="1417320"/>
          </a:xfrm>
          <a:prstGeom prst="rect">
            <a:avLst/>
          </a:prstGeom>
          <a:noFill/>
        </p:spPr>
        <p:txBody>
          <a:bodyPr wrap="square" lIns="0" tIns="0" rIns="0" bIns="0" anchor="t">
            <a:spAutoFit/>
          </a:bodyPr>
          <a:lstStyle/>
          <a:p>
            <a:pPr algn="l">
              <a:spcBef>
                <a:spcPts val="0"/>
              </a:spcBef>
              <a:spcAft>
                <a:spcPts val="0"/>
              </a:spcAft>
              <a:defRPr sz="1700" b="0" i="0">
                <a:solidFill>
                  <a:srgbClr val="1A2038"/>
                </a:solidFill>
                <a:latin typeface="DejaVu Sans"/>
              </a:defRPr>
            </a:pPr>
            <a:r>
              <a:t>I looked at how a business group showed up online and identified a gap in trust and visibility. I proposed web and social direction, then wrote UX copy for five subsidiary websites, alongside newsletters and a content map.</a:t>
            </a:r>
          </a:p>
        </p:txBody>
      </p:sp>
      <p:sp>
        <p:nvSpPr>
          <p:cNvPr id="9" name="Rounded Rectangle 8"/>
          <p:cNvSpPr/>
          <p:nvPr/>
        </p:nvSpPr>
        <p:spPr>
          <a:xfrm>
            <a:off x="749808" y="4069080"/>
            <a:ext cx="3182112" cy="969264"/>
          </a:xfrm>
          <a:prstGeom prst="roundRect">
            <a:avLst>
              <a:gd name="adj" fmla="val 12000"/>
            </a:avLst>
          </a:prstGeom>
          <a:solidFill>
            <a:srgbClr val="F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270248"/>
            <a:ext cx="2697480" cy="201168"/>
          </a:xfrm>
          <a:prstGeom prst="rect">
            <a:avLst/>
          </a:prstGeom>
          <a:noFill/>
        </p:spPr>
        <p:txBody>
          <a:bodyPr wrap="square" lIns="0" tIns="0" rIns="0" bIns="0" anchor="t">
            <a:spAutoFit/>
          </a:bodyPr>
          <a:lstStyle/>
          <a:p>
            <a:pPr algn="l">
              <a:spcBef>
                <a:spcPts val="0"/>
              </a:spcBef>
              <a:spcAft>
                <a:spcPts val="0"/>
              </a:spcAft>
              <a:defRPr sz="900" b="1" i="0">
                <a:solidFill>
                  <a:srgbClr val="F0609B"/>
                </a:solidFill>
                <a:latin typeface="DejaVu Sans"/>
              </a:defRPr>
            </a:pPr>
            <a:r>
              <a:t>RESEARCH</a:t>
            </a:r>
          </a:p>
        </p:txBody>
      </p:sp>
      <p:sp>
        <p:nvSpPr>
          <p:cNvPr id="11" name="TextBox 10"/>
          <p:cNvSpPr txBox="1"/>
          <p:nvPr/>
        </p:nvSpPr>
        <p:spPr>
          <a:xfrm>
            <a:off x="960120" y="4590288"/>
            <a:ext cx="2697480" cy="310896"/>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Understand the business and its audiences.</a:t>
            </a:r>
          </a:p>
        </p:txBody>
      </p:sp>
      <p:sp>
        <p:nvSpPr>
          <p:cNvPr id="12" name="Rounded Rectangle 11"/>
          <p:cNvSpPr/>
          <p:nvPr/>
        </p:nvSpPr>
        <p:spPr>
          <a:xfrm>
            <a:off x="4325112" y="4069080"/>
            <a:ext cx="3182112" cy="969264"/>
          </a:xfrm>
          <a:prstGeom prst="roundRect">
            <a:avLst>
              <a:gd name="adj" fmla="val 12000"/>
            </a:avLst>
          </a:prstGeom>
          <a:solidFill>
            <a:srgbClr val="E6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5424" y="4270248"/>
            <a:ext cx="2697480" cy="201168"/>
          </a:xfrm>
          <a:prstGeom prst="rect">
            <a:avLst/>
          </a:prstGeom>
          <a:noFill/>
        </p:spPr>
        <p:txBody>
          <a:bodyPr wrap="square" lIns="0" tIns="0" rIns="0" bIns="0" anchor="t">
            <a:spAutoFit/>
          </a:bodyPr>
          <a:lstStyle/>
          <a:p>
            <a:pPr algn="l">
              <a:spcBef>
                <a:spcPts val="0"/>
              </a:spcBef>
              <a:spcAft>
                <a:spcPts val="0"/>
              </a:spcAft>
              <a:defRPr sz="900" b="1" i="0">
                <a:solidFill>
                  <a:srgbClr val="4657E8"/>
                </a:solidFill>
                <a:latin typeface="DejaVu Sans"/>
              </a:defRPr>
            </a:pPr>
            <a:r>
              <a:t>RECOMMENDATION</a:t>
            </a:r>
          </a:p>
        </p:txBody>
      </p:sp>
      <p:sp>
        <p:nvSpPr>
          <p:cNvPr id="14" name="TextBox 13"/>
          <p:cNvSpPr txBox="1"/>
          <p:nvPr/>
        </p:nvSpPr>
        <p:spPr>
          <a:xfrm>
            <a:off x="4535424" y="4590288"/>
            <a:ext cx="2697480" cy="310896"/>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Turn the gap into a web and social direction.</a:t>
            </a:r>
          </a:p>
        </p:txBody>
      </p:sp>
      <p:sp>
        <p:nvSpPr>
          <p:cNvPr id="15" name="Rounded Rectangle 14"/>
          <p:cNvSpPr/>
          <p:nvPr/>
        </p:nvSpPr>
        <p:spPr>
          <a:xfrm>
            <a:off x="7900416" y="4069080"/>
            <a:ext cx="3182112" cy="969264"/>
          </a:xfrm>
          <a:prstGeom prst="roundRect">
            <a:avLst>
              <a:gd name="adj" fmla="val 12000"/>
            </a:avLst>
          </a:prstGeom>
          <a:solidFill>
            <a:srgbClr val="D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0727" y="4270248"/>
            <a:ext cx="2697480" cy="201168"/>
          </a:xfrm>
          <a:prstGeom prst="rect">
            <a:avLst/>
          </a:prstGeom>
          <a:noFill/>
        </p:spPr>
        <p:txBody>
          <a:bodyPr wrap="square" lIns="0" tIns="0" rIns="0" bIns="0" anchor="t">
            <a:spAutoFit/>
          </a:bodyPr>
          <a:lstStyle/>
          <a:p>
            <a:pPr algn="l">
              <a:spcBef>
                <a:spcPts val="0"/>
              </a:spcBef>
              <a:spcAft>
                <a:spcPts val="0"/>
              </a:spcAft>
              <a:defRPr sz="900" b="1" i="0">
                <a:solidFill>
                  <a:srgbClr val="239B78"/>
                </a:solidFill>
                <a:latin typeface="DejaVu Sans"/>
              </a:defRPr>
            </a:pPr>
            <a:r>
              <a:t>EXPRESSION</a:t>
            </a:r>
          </a:p>
        </p:txBody>
      </p:sp>
      <p:sp>
        <p:nvSpPr>
          <p:cNvPr id="17" name="TextBox 16"/>
          <p:cNvSpPr txBox="1"/>
          <p:nvPr/>
        </p:nvSpPr>
        <p:spPr>
          <a:xfrm>
            <a:off x="8110727" y="4590288"/>
            <a:ext cx="2697480" cy="310896"/>
          </a:xfrm>
          <a:prstGeom prst="rect">
            <a:avLst/>
          </a:prstGeom>
          <a:noFill/>
        </p:spPr>
        <p:txBody>
          <a:bodyPr wrap="square" lIns="0" tIns="0" rIns="0" bIns="0" anchor="t">
            <a:spAutoFit/>
          </a:bodyPr>
          <a:lstStyle/>
          <a:p>
            <a:pPr algn="l">
              <a:spcBef>
                <a:spcPts val="0"/>
              </a:spcBef>
              <a:spcAft>
                <a:spcPts val="0"/>
              </a:spcAft>
              <a:defRPr sz="1100" b="0" i="0">
                <a:solidFill>
                  <a:srgbClr val="1A2038"/>
                </a:solidFill>
                <a:latin typeface="DejaVu Sans"/>
              </a:defRPr>
            </a:pPr>
            <a:r>
              <a:t>Make the experience easier to understand.</a:t>
            </a:r>
          </a:p>
        </p:txBody>
      </p:sp>
      <p:cxnSp>
        <p:nvCxnSpPr>
          <p:cNvPr id="18" name="Connector 17"/>
          <p:cNvCxnSpPr/>
          <p:nvPr/>
        </p:nvCxnSpPr>
        <p:spPr>
          <a:xfrm>
            <a:off x="566928" y="6473952"/>
            <a:ext cx="11064240" cy="0"/>
          </a:xfrm>
          <a:prstGeom prst="line">
            <a:avLst/>
          </a:prstGeom>
          <a:ln w="8890">
            <a:solidFill>
              <a:srgbClr val="DDE1E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737A91"/>
                </a:solidFill>
                <a:latin typeface="DejaVu Sans"/>
              </a:defRPr>
            </a:pPr>
            <a:r>
              <a:t>YAGAZIE BENJAMIN  /  BRAND &amp; CONTENT STRATEGY</a:t>
            </a:r>
          </a:p>
        </p:txBody>
      </p:sp>
      <p:sp>
        <p:nvSpPr>
          <p:cNvPr id="20" name="TextBox 19"/>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CASE STUDIES</a:t>
            </a:r>
          </a:p>
        </p:txBody>
      </p:sp>
      <p:sp>
        <p:nvSpPr>
          <p:cNvPr id="21" name="TextBox 20"/>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737A91"/>
                </a:solidFill>
                <a:latin typeface="DejaVu Sans"/>
              </a:defRPr>
            </a:pPr>
            <a:r>
              <a:t>15 / 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621792" y="347472"/>
            <a:ext cx="7315200" cy="228600"/>
          </a:xfrm>
          <a:prstGeom prst="rect">
            <a:avLst/>
          </a:prstGeom>
          <a:noFill/>
        </p:spPr>
        <p:txBody>
          <a:bodyPr wrap="square" lIns="0" tIns="0" rIns="0" bIns="0" anchor="ctr">
            <a:spAutoFit/>
          </a:bodyPr>
          <a:lstStyle/>
          <a:p>
            <a:pPr algn="l">
              <a:spcBef>
                <a:spcPts val="0"/>
              </a:spcBef>
              <a:spcAft>
                <a:spcPts val="0"/>
              </a:spcAft>
              <a:defRPr sz="900" b="1" i="0">
                <a:solidFill>
                  <a:srgbClr val="FF92BA"/>
                </a:solidFill>
                <a:latin typeface="DejaVu Sans"/>
              </a:defRPr>
            </a:pPr>
            <a:r>
              <a:t>OTHER RELEVANT WORK  /  THREE-MONTH ENGAGEMENT</a:t>
            </a:r>
          </a:p>
        </p:txBody>
      </p:sp>
      <p:sp>
        <p:nvSpPr>
          <p:cNvPr id="4" name="TextBox 3"/>
          <p:cNvSpPr txBox="1"/>
          <p:nvPr/>
        </p:nvSpPr>
        <p:spPr>
          <a:xfrm>
            <a:off x="621792" y="731520"/>
            <a:ext cx="9875520" cy="786384"/>
          </a:xfrm>
          <a:prstGeom prst="rect">
            <a:avLst/>
          </a:prstGeom>
          <a:noFill/>
        </p:spPr>
        <p:txBody>
          <a:bodyPr wrap="square" lIns="0" tIns="0" rIns="0" bIns="0" anchor="t">
            <a:spAutoFit/>
          </a:bodyPr>
          <a:lstStyle/>
          <a:p>
            <a:pPr algn="l">
              <a:spcBef>
                <a:spcPts val="0"/>
              </a:spcBef>
              <a:spcAft>
                <a:spcPts val="0"/>
              </a:spcAft>
              <a:defRPr sz="3000" b="1" i="0">
                <a:solidFill>
                  <a:srgbClr val="FFFFFF"/>
                </a:solidFill>
                <a:latin typeface="DejaVu Sans"/>
              </a:defRPr>
            </a:pPr>
            <a:r>
              <a:t>OVASYS</a:t>
            </a:r>
          </a:p>
        </p:txBody>
      </p:sp>
      <p:sp>
        <p:nvSpPr>
          <p:cNvPr id="5" name="TextBox 4"/>
          <p:cNvSpPr txBox="1"/>
          <p:nvPr/>
        </p:nvSpPr>
        <p:spPr>
          <a:xfrm>
            <a:off x="640080" y="1627632"/>
            <a:ext cx="10789920" cy="384048"/>
          </a:xfrm>
          <a:prstGeom prst="rect">
            <a:avLst/>
          </a:prstGeom>
          <a:noFill/>
        </p:spPr>
        <p:txBody>
          <a:bodyPr wrap="square" lIns="0" tIns="0" rIns="0" bIns="0" anchor="t">
            <a:spAutoFit/>
          </a:bodyPr>
          <a:lstStyle/>
          <a:p>
            <a:pPr algn="l">
              <a:spcBef>
                <a:spcPts val="0"/>
              </a:spcBef>
              <a:spcAft>
                <a:spcPts val="0"/>
              </a:spcAft>
              <a:defRPr sz="1300" b="0" i="0">
                <a:solidFill>
                  <a:srgbClr val="D8DBE7"/>
                </a:solidFill>
                <a:latin typeface="DejaVu Sans"/>
              </a:defRPr>
            </a:pPr>
            <a:r>
              <a:t>Client recruitment and brand strategy.</a:t>
            </a:r>
          </a:p>
        </p:txBody>
      </p:sp>
      <p:sp>
        <p:nvSpPr>
          <p:cNvPr id="6" name="Rounded Rectangle 5"/>
          <p:cNvSpPr/>
          <p:nvPr/>
        </p:nvSpPr>
        <p:spPr>
          <a:xfrm>
            <a:off x="10707624" y="557784"/>
            <a:ext cx="1161288"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ovasys_chat.png"/>
          <p:cNvPicPr>
            <a:picLocks noChangeAspect="1"/>
          </p:cNvPicPr>
          <p:nvPr/>
        </p:nvPicPr>
        <p:blipFill>
          <a:blip r:embed="rId3"/>
          <a:stretch>
            <a:fillRect/>
          </a:stretch>
        </p:blipFill>
        <p:spPr>
          <a:xfrm>
            <a:off x="10808208" y="658368"/>
            <a:ext cx="960120" cy="960120"/>
          </a:xfrm>
          <a:prstGeom prst="rect">
            <a:avLst/>
          </a:prstGeom>
        </p:spPr>
      </p:pic>
      <p:sp>
        <p:nvSpPr>
          <p:cNvPr id="8" name="Rounded Rectangle 7"/>
          <p:cNvSpPr/>
          <p:nvPr/>
        </p:nvSpPr>
        <p:spPr>
          <a:xfrm>
            <a:off x="713232" y="2103120"/>
            <a:ext cx="5001768" cy="3246120"/>
          </a:xfrm>
          <a:prstGeom prst="roundRect">
            <a:avLst>
              <a:gd name="adj" fmla="val 12000"/>
            </a:avLst>
          </a:prstGeom>
          <a:solidFill>
            <a:srgbClr val="1C2446"/>
          </a:solidFill>
          <a:ln w="12700">
            <a:solidFill>
              <a:srgbClr val="374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395728"/>
            <a:ext cx="1828800" cy="310896"/>
          </a:xfrm>
          <a:prstGeom prst="rect">
            <a:avLst/>
          </a:prstGeom>
          <a:noFill/>
        </p:spPr>
        <p:txBody>
          <a:bodyPr wrap="square" lIns="0" tIns="0" rIns="0" bIns="0" anchor="t">
            <a:spAutoFit/>
          </a:bodyPr>
          <a:lstStyle/>
          <a:p>
            <a:pPr algn="l">
              <a:spcBef>
                <a:spcPts val="0"/>
              </a:spcBef>
              <a:spcAft>
                <a:spcPts val="0"/>
              </a:spcAft>
              <a:defRPr sz="1200" b="1" i="0">
                <a:solidFill>
                  <a:srgbClr val="FF92BA"/>
                </a:solidFill>
                <a:latin typeface="DejaVu Sans"/>
              </a:defRPr>
            </a:pPr>
            <a:r>
              <a:t>MY ROLE</a:t>
            </a:r>
          </a:p>
        </p:txBody>
      </p:sp>
      <p:sp>
        <p:nvSpPr>
          <p:cNvPr id="10" name="TextBox 9"/>
          <p:cNvSpPr txBox="1"/>
          <p:nvPr/>
        </p:nvSpPr>
        <p:spPr>
          <a:xfrm>
            <a:off x="1033271" y="2788920"/>
            <a:ext cx="4114800" cy="274320"/>
          </a:xfrm>
          <a:prstGeom prst="rect">
            <a:avLst/>
          </a:prstGeom>
          <a:noFill/>
        </p:spPr>
        <p:txBody>
          <a:bodyPr wrap="square" lIns="0" tIns="0" rIns="0" bIns="0" anchor="t">
            <a:spAutoFit/>
          </a:bodyPr>
          <a:lstStyle/>
          <a:p>
            <a:pPr algn="l">
              <a:spcBef>
                <a:spcPts val="0"/>
              </a:spcBef>
              <a:spcAft>
                <a:spcPts val="0"/>
              </a:spcAft>
              <a:defRPr sz="1100" b="0" i="0">
                <a:solidFill>
                  <a:srgbClr val="DDE3F2"/>
                </a:solidFill>
                <a:latin typeface="DejaVu Sans"/>
              </a:defRPr>
            </a:pPr>
            <a:r>
              <a:t>Brand strategist + client recruiter</a:t>
            </a:r>
          </a:p>
        </p:txBody>
      </p:sp>
      <p:sp>
        <p:nvSpPr>
          <p:cNvPr id="11" name="TextBox 10"/>
          <p:cNvSpPr txBox="1"/>
          <p:nvPr/>
        </p:nvSpPr>
        <p:spPr>
          <a:xfrm>
            <a:off x="1033271" y="3355848"/>
            <a:ext cx="4114800" cy="914400"/>
          </a:xfrm>
          <a:prstGeom prst="rect">
            <a:avLst/>
          </a:prstGeom>
          <a:noFill/>
        </p:spPr>
        <p:txBody>
          <a:bodyPr wrap="square" lIns="0" tIns="0" rIns="0" bIns="0" anchor="t">
            <a:spAutoFit/>
          </a:bodyPr>
          <a:lstStyle/>
          <a:p>
            <a:pPr algn="l">
              <a:spcBef>
                <a:spcPts val="0"/>
              </a:spcBef>
              <a:spcAft>
                <a:spcPts val="0"/>
              </a:spcAft>
              <a:defRPr sz="1600" b="0" i="0">
                <a:solidFill>
                  <a:srgbClr val="FFFFFF"/>
                </a:solidFill>
                <a:latin typeface="DejaVu Sans"/>
              </a:defRPr>
            </a:pPr>
            <a:r>
              <a:t>Client recruitment and brand strategy, bringing commercial conversations and brand thinking into the same process.</a:t>
            </a:r>
          </a:p>
        </p:txBody>
      </p:sp>
      <p:sp>
        <p:nvSpPr>
          <p:cNvPr id="12" name="Rounded Rectangle 11"/>
          <p:cNvSpPr/>
          <p:nvPr/>
        </p:nvSpPr>
        <p:spPr>
          <a:xfrm>
            <a:off x="1033271" y="4727448"/>
            <a:ext cx="3063240" cy="310896"/>
          </a:xfrm>
          <a:prstGeom prst="roundRect">
            <a:avLst>
              <a:gd name="adj" fmla="val 12000"/>
            </a:avLst>
          </a:prstGeom>
          <a:solidFill>
            <a:srgbClr val="303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33856" y="4768596"/>
            <a:ext cx="2862072" cy="219456"/>
          </a:xfrm>
          <a:prstGeom prst="rect">
            <a:avLst/>
          </a:prstGeom>
          <a:noFill/>
        </p:spPr>
        <p:txBody>
          <a:bodyPr wrap="square" lIns="0" tIns="0" rIns="0" bIns="0" anchor="ctr">
            <a:spAutoFit/>
          </a:bodyPr>
          <a:lstStyle/>
          <a:p>
            <a:pPr algn="l">
              <a:spcBef>
                <a:spcPts val="0"/>
              </a:spcBef>
              <a:spcAft>
                <a:spcPts val="0"/>
              </a:spcAft>
              <a:defRPr sz="850" b="1" i="0">
                <a:solidFill>
                  <a:srgbClr val="FF92BA"/>
                </a:solidFill>
                <a:latin typeface="DejaVu Sans"/>
              </a:defRPr>
            </a:pPr>
            <a:r>
              <a:t>CLIENT RECRUITER + BRAND STRATEGIST</a:t>
            </a:r>
          </a:p>
        </p:txBody>
      </p:sp>
      <p:sp>
        <p:nvSpPr>
          <p:cNvPr id="14" name="Rounded Rectangle 13"/>
          <p:cNvSpPr/>
          <p:nvPr/>
        </p:nvSpPr>
        <p:spPr>
          <a:xfrm>
            <a:off x="6053328" y="2103120"/>
            <a:ext cx="5330952" cy="3246120"/>
          </a:xfrm>
          <a:prstGeom prst="roundRect">
            <a:avLst>
              <a:gd name="adj" fmla="val 12000"/>
            </a:avLst>
          </a:prstGeom>
          <a:solidFill>
            <a:srgbClr val="1C2446"/>
          </a:solidFill>
          <a:ln w="12700">
            <a:solidFill>
              <a:srgbClr val="374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82512" y="2395728"/>
            <a:ext cx="4480560" cy="310896"/>
          </a:xfrm>
          <a:prstGeom prst="rect">
            <a:avLst/>
          </a:prstGeom>
          <a:noFill/>
        </p:spPr>
        <p:txBody>
          <a:bodyPr wrap="square" lIns="0" tIns="0" rIns="0" bIns="0" anchor="t">
            <a:spAutoFit/>
          </a:bodyPr>
          <a:lstStyle/>
          <a:p>
            <a:pPr algn="l">
              <a:spcBef>
                <a:spcPts val="0"/>
              </a:spcBef>
              <a:spcAft>
                <a:spcPts val="0"/>
              </a:spcAft>
              <a:defRPr sz="1000" b="1" i="0">
                <a:solidFill>
                  <a:srgbClr val="82D8B9"/>
                </a:solidFill>
                <a:latin typeface="DejaVu Sans"/>
              </a:defRPr>
            </a:pPr>
            <a:r>
              <a:t>OTHER STRATEGY AND COMMUNICATION WORK</a:t>
            </a:r>
          </a:p>
        </p:txBody>
      </p:sp>
      <p:sp>
        <p:nvSpPr>
          <p:cNvPr id="16" name="TextBox 15"/>
          <p:cNvSpPr txBox="1"/>
          <p:nvPr/>
        </p:nvSpPr>
        <p:spPr>
          <a:xfrm>
            <a:off x="6382512" y="2926080"/>
            <a:ext cx="2011680" cy="210312"/>
          </a:xfrm>
          <a:prstGeom prst="rect">
            <a:avLst/>
          </a:prstGeom>
          <a:noFill/>
        </p:spPr>
        <p:txBody>
          <a:bodyPr wrap="square" lIns="0" tIns="0" rIns="0" bIns="0" anchor="t">
            <a:spAutoFit/>
          </a:bodyPr>
          <a:lstStyle/>
          <a:p>
            <a:pPr algn="l">
              <a:spcBef>
                <a:spcPts val="0"/>
              </a:spcBef>
              <a:spcAft>
                <a:spcPts val="0"/>
              </a:spcAft>
              <a:defRPr sz="1000" b="1" i="0">
                <a:solidFill>
                  <a:srgbClr val="FFFFFF"/>
                </a:solidFill>
                <a:latin typeface="DejaVu Sans"/>
              </a:defRPr>
            </a:pPr>
            <a:r>
              <a:t>Grant Thornton Nigeria</a:t>
            </a:r>
          </a:p>
        </p:txBody>
      </p:sp>
      <p:sp>
        <p:nvSpPr>
          <p:cNvPr id="17" name="TextBox 16"/>
          <p:cNvSpPr txBox="1"/>
          <p:nvPr/>
        </p:nvSpPr>
        <p:spPr>
          <a:xfrm>
            <a:off x="8476488" y="2926080"/>
            <a:ext cx="2514600" cy="292608"/>
          </a:xfrm>
          <a:prstGeom prst="rect">
            <a:avLst/>
          </a:prstGeom>
          <a:noFill/>
        </p:spPr>
        <p:txBody>
          <a:bodyPr wrap="square" lIns="0" tIns="0" rIns="0" bIns="0" anchor="t">
            <a:spAutoFit/>
          </a:bodyPr>
          <a:lstStyle/>
          <a:p>
            <a:pPr algn="l">
              <a:spcBef>
                <a:spcPts val="0"/>
              </a:spcBef>
              <a:spcAft>
                <a:spcPts val="0"/>
              </a:spcAft>
              <a:defRPr sz="1000" b="0" i="0">
                <a:solidFill>
                  <a:srgbClr val="DDE3F2"/>
                </a:solidFill>
                <a:latin typeface="DejaVu Sans"/>
              </a:defRPr>
            </a:pPr>
            <a:r>
              <a:t>Market research internship</a:t>
            </a:r>
          </a:p>
        </p:txBody>
      </p:sp>
      <p:cxnSp>
        <p:nvCxnSpPr>
          <p:cNvPr id="18" name="Connector 17"/>
          <p:cNvCxnSpPr/>
          <p:nvPr/>
        </p:nvCxnSpPr>
        <p:spPr>
          <a:xfrm>
            <a:off x="6382512" y="3291840"/>
            <a:ext cx="4636008" cy="0"/>
          </a:xfrm>
          <a:prstGeom prst="line">
            <a:avLst/>
          </a:prstGeom>
          <a:ln w="8890">
            <a:solidFill>
              <a:srgbClr val="38416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82512" y="3447288"/>
            <a:ext cx="2011680" cy="210312"/>
          </a:xfrm>
          <a:prstGeom prst="rect">
            <a:avLst/>
          </a:prstGeom>
          <a:noFill/>
        </p:spPr>
        <p:txBody>
          <a:bodyPr wrap="square" lIns="0" tIns="0" rIns="0" bIns="0" anchor="t">
            <a:spAutoFit/>
          </a:bodyPr>
          <a:lstStyle/>
          <a:p>
            <a:pPr algn="l">
              <a:spcBef>
                <a:spcPts val="0"/>
              </a:spcBef>
              <a:spcAft>
                <a:spcPts val="0"/>
              </a:spcAft>
              <a:defRPr sz="1000" b="1" i="0">
                <a:solidFill>
                  <a:srgbClr val="FFFFFF"/>
                </a:solidFill>
                <a:latin typeface="DejaVu Sans"/>
              </a:defRPr>
            </a:pPr>
            <a:r>
              <a:t>Equatif</a:t>
            </a:r>
          </a:p>
        </p:txBody>
      </p:sp>
      <p:sp>
        <p:nvSpPr>
          <p:cNvPr id="20" name="TextBox 19"/>
          <p:cNvSpPr txBox="1"/>
          <p:nvPr/>
        </p:nvSpPr>
        <p:spPr>
          <a:xfrm>
            <a:off x="8476488" y="3447288"/>
            <a:ext cx="2514600" cy="292608"/>
          </a:xfrm>
          <a:prstGeom prst="rect">
            <a:avLst/>
          </a:prstGeom>
          <a:noFill/>
        </p:spPr>
        <p:txBody>
          <a:bodyPr wrap="square" lIns="0" tIns="0" rIns="0" bIns="0" anchor="t">
            <a:spAutoFit/>
          </a:bodyPr>
          <a:lstStyle/>
          <a:p>
            <a:pPr algn="l">
              <a:spcBef>
                <a:spcPts val="0"/>
              </a:spcBef>
              <a:spcAft>
                <a:spcPts val="0"/>
              </a:spcAft>
              <a:defRPr sz="1000" b="0" i="0">
                <a:solidFill>
                  <a:srgbClr val="DDE3F2"/>
                </a:solidFill>
                <a:latin typeface="DejaVu Sans"/>
              </a:defRPr>
            </a:pPr>
            <a:r>
              <a:t>B2B business development and outreach</a:t>
            </a:r>
          </a:p>
        </p:txBody>
      </p:sp>
      <p:cxnSp>
        <p:nvCxnSpPr>
          <p:cNvPr id="21" name="Connector 20"/>
          <p:cNvCxnSpPr/>
          <p:nvPr/>
        </p:nvCxnSpPr>
        <p:spPr>
          <a:xfrm>
            <a:off x="6382512" y="3813048"/>
            <a:ext cx="4636008" cy="0"/>
          </a:xfrm>
          <a:prstGeom prst="line">
            <a:avLst/>
          </a:prstGeom>
          <a:ln w="8890">
            <a:solidFill>
              <a:srgbClr val="38416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82512" y="3968496"/>
            <a:ext cx="2011680" cy="210312"/>
          </a:xfrm>
          <a:prstGeom prst="rect">
            <a:avLst/>
          </a:prstGeom>
          <a:noFill/>
        </p:spPr>
        <p:txBody>
          <a:bodyPr wrap="square" lIns="0" tIns="0" rIns="0" bIns="0" anchor="t">
            <a:spAutoFit/>
          </a:bodyPr>
          <a:lstStyle/>
          <a:p>
            <a:pPr algn="l">
              <a:spcBef>
                <a:spcPts val="0"/>
              </a:spcBef>
              <a:spcAft>
                <a:spcPts val="0"/>
              </a:spcAft>
              <a:defRPr sz="1000" b="1" i="0">
                <a:solidFill>
                  <a:srgbClr val="FFFFFF"/>
                </a:solidFill>
                <a:latin typeface="DejaVu Sans"/>
              </a:defRPr>
            </a:pPr>
            <a:r>
              <a:t>Gixlr</a:t>
            </a:r>
          </a:p>
        </p:txBody>
      </p:sp>
      <p:sp>
        <p:nvSpPr>
          <p:cNvPr id="23" name="TextBox 22"/>
          <p:cNvSpPr txBox="1"/>
          <p:nvPr/>
        </p:nvSpPr>
        <p:spPr>
          <a:xfrm>
            <a:off x="8476488" y="3968496"/>
            <a:ext cx="2514600" cy="292608"/>
          </a:xfrm>
          <a:prstGeom prst="rect">
            <a:avLst/>
          </a:prstGeom>
          <a:noFill/>
        </p:spPr>
        <p:txBody>
          <a:bodyPr wrap="square" lIns="0" tIns="0" rIns="0" bIns="0" anchor="t">
            <a:spAutoFit/>
          </a:bodyPr>
          <a:lstStyle/>
          <a:p>
            <a:pPr algn="l">
              <a:spcBef>
                <a:spcPts val="0"/>
              </a:spcBef>
              <a:spcAft>
                <a:spcPts val="0"/>
              </a:spcAft>
              <a:defRPr sz="1000" b="0" i="0">
                <a:solidFill>
                  <a:srgbClr val="DDE3F2"/>
                </a:solidFill>
                <a:latin typeface="DejaVu Sans"/>
              </a:defRPr>
            </a:pPr>
            <a:r>
              <a:t>Relaunch and partnership messaging</a:t>
            </a:r>
          </a:p>
        </p:txBody>
      </p:sp>
      <p:cxnSp>
        <p:nvCxnSpPr>
          <p:cNvPr id="24" name="Connector 23"/>
          <p:cNvCxnSpPr/>
          <p:nvPr/>
        </p:nvCxnSpPr>
        <p:spPr>
          <a:xfrm>
            <a:off x="6382512" y="4334256"/>
            <a:ext cx="4636008" cy="0"/>
          </a:xfrm>
          <a:prstGeom prst="line">
            <a:avLst/>
          </a:prstGeom>
          <a:ln w="8890">
            <a:solidFill>
              <a:srgbClr val="38416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82512" y="4489704"/>
            <a:ext cx="2011680" cy="210312"/>
          </a:xfrm>
          <a:prstGeom prst="rect">
            <a:avLst/>
          </a:prstGeom>
          <a:noFill/>
        </p:spPr>
        <p:txBody>
          <a:bodyPr wrap="square" lIns="0" tIns="0" rIns="0" bIns="0" anchor="t">
            <a:spAutoFit/>
          </a:bodyPr>
          <a:lstStyle/>
          <a:p>
            <a:pPr algn="l">
              <a:spcBef>
                <a:spcPts val="0"/>
              </a:spcBef>
              <a:spcAft>
                <a:spcPts val="0"/>
              </a:spcAft>
              <a:defRPr sz="1000" b="1" i="0">
                <a:solidFill>
                  <a:srgbClr val="FFFFFF"/>
                </a:solidFill>
                <a:latin typeface="DejaVu Sans"/>
              </a:defRPr>
            </a:pPr>
            <a:r>
              <a:t>Business AI Labs</a:t>
            </a:r>
          </a:p>
        </p:txBody>
      </p:sp>
      <p:sp>
        <p:nvSpPr>
          <p:cNvPr id="26" name="TextBox 25"/>
          <p:cNvSpPr txBox="1"/>
          <p:nvPr/>
        </p:nvSpPr>
        <p:spPr>
          <a:xfrm>
            <a:off x="8476488" y="4489704"/>
            <a:ext cx="2514600" cy="292608"/>
          </a:xfrm>
          <a:prstGeom prst="rect">
            <a:avLst/>
          </a:prstGeom>
          <a:noFill/>
        </p:spPr>
        <p:txBody>
          <a:bodyPr wrap="square" lIns="0" tIns="0" rIns="0" bIns="0" anchor="t">
            <a:spAutoFit/>
          </a:bodyPr>
          <a:lstStyle/>
          <a:p>
            <a:pPr algn="l">
              <a:spcBef>
                <a:spcPts val="0"/>
              </a:spcBef>
              <a:spcAft>
                <a:spcPts val="0"/>
              </a:spcAft>
              <a:defRPr sz="1000" b="0" i="0">
                <a:solidFill>
                  <a:srgbClr val="DDE3F2"/>
                </a:solidFill>
                <a:latin typeface="DejaVu Sans"/>
              </a:defRPr>
            </a:pPr>
            <a:r>
              <a:t>Website positioning</a:t>
            </a:r>
          </a:p>
        </p:txBody>
      </p:sp>
      <p:cxnSp>
        <p:nvCxnSpPr>
          <p:cNvPr id="27" name="Connector 26"/>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29" name="TextBox 28"/>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WORKING RANGE</a:t>
            </a:r>
          </a:p>
        </p:txBody>
      </p:sp>
      <p:sp>
        <p:nvSpPr>
          <p:cNvPr id="30" name="TextBox 29"/>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16 / 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62F"/>
        </a:solidFill>
        <a:effectLst/>
      </p:bgPr>
    </p:bg>
    <p:spTree>
      <p:nvGrpSpPr>
        <p:cNvPr id="1" name=""/>
        <p:cNvGrpSpPr/>
        <p:nvPr/>
      </p:nvGrpSpPr>
      <p:grpSpPr>
        <a:xfrm>
          <a:off x="0" y="0"/>
          <a:ext cx="0" cy="0"/>
          <a:chOff x="0" y="0"/>
          <a:chExt cx="0" cy="0"/>
        </a:xfrm>
      </p:grpSpPr>
      <p:pic>
        <p:nvPicPr>
          <p:cNvPr id="2" name="Picture 1" descr="flow_gradient.jpg"/>
          <p:cNvPicPr>
            <a:picLocks noChangeAspect="1"/>
          </p:cNvPicPr>
          <p:nvPr/>
        </p:nvPicPr>
        <p:blipFill>
          <a:blip r:embed="rId2"/>
          <a:stretch>
            <a:fillRect/>
          </a:stretch>
        </p:blipFill>
        <p:spPr>
          <a:xfrm>
            <a:off x="0" y="0"/>
            <a:ext cx="12191695" cy="50292"/>
          </a:xfrm>
          <a:prstGeom prst="rect">
            <a:avLst/>
          </a:prstGeom>
        </p:spPr>
      </p:pic>
      <p:sp>
        <p:nvSpPr>
          <p:cNvPr id="3" name="TextBox 2"/>
          <p:cNvSpPr txBox="1"/>
          <p:nvPr/>
        </p:nvSpPr>
        <p:spPr>
          <a:xfrm>
            <a:off x="749808" y="658368"/>
            <a:ext cx="7040880" cy="384048"/>
          </a:xfrm>
          <a:prstGeom prst="rect">
            <a:avLst/>
          </a:prstGeom>
          <a:noFill/>
        </p:spPr>
        <p:txBody>
          <a:bodyPr wrap="square" lIns="0" tIns="0" rIns="0" bIns="0" anchor="t">
            <a:spAutoFit/>
          </a:bodyPr>
          <a:lstStyle/>
          <a:p>
            <a:pPr algn="l">
              <a:spcBef>
                <a:spcPts val="0"/>
              </a:spcBef>
              <a:spcAft>
                <a:spcPts val="0"/>
              </a:spcAft>
              <a:defRPr sz="1100" b="1" i="0">
                <a:solidFill>
                  <a:srgbClr val="82D8B9"/>
                </a:solidFill>
                <a:latin typeface="DejaVu Sans"/>
              </a:defRPr>
            </a:pPr>
            <a:r>
              <a:t>GOOD WORK TRAVELS.</a:t>
            </a:r>
          </a:p>
        </p:txBody>
      </p:sp>
      <p:sp>
        <p:nvSpPr>
          <p:cNvPr id="4" name="TextBox 3"/>
          <p:cNvSpPr txBox="1"/>
          <p:nvPr/>
        </p:nvSpPr>
        <p:spPr>
          <a:xfrm>
            <a:off x="731520" y="1417320"/>
            <a:ext cx="6675120" cy="1828800"/>
          </a:xfrm>
          <a:prstGeom prst="rect">
            <a:avLst/>
          </a:prstGeom>
          <a:noFill/>
        </p:spPr>
        <p:txBody>
          <a:bodyPr wrap="square" lIns="0" tIns="0" rIns="0" bIns="0" anchor="t">
            <a:spAutoFit/>
          </a:bodyPr>
          <a:lstStyle/>
          <a:p>
            <a:pPr algn="l">
              <a:spcBef>
                <a:spcPts val="0"/>
              </a:spcBef>
              <a:spcAft>
                <a:spcPts val="0"/>
              </a:spcAft>
              <a:defRPr sz="5400" b="1" i="0">
                <a:solidFill>
                  <a:srgbClr val="FFFFFF"/>
                </a:solidFill>
                <a:latin typeface="DejaVu Sans"/>
              </a:defRPr>
            </a:pPr>
            <a:r>
              <a:t>We go</a:t>
            </a:r>
          </a:p>
          <a:p>
            <a:pPr algn="l">
              <a:spcBef>
                <a:spcPts val="0"/>
              </a:spcBef>
              <a:spcAft>
                <a:spcPts val="0"/>
              </a:spcAft>
              <a:defRPr sz="5400" b="1" i="0">
                <a:solidFill>
                  <a:srgbClr val="FFFFFF"/>
                </a:solidFill>
                <a:latin typeface="DejaVu Sans"/>
              </a:defRPr>
            </a:pPr>
            <a:r>
              <a:t>together.</a:t>
            </a:r>
          </a:p>
        </p:txBody>
      </p:sp>
      <p:sp>
        <p:nvSpPr>
          <p:cNvPr id="5" name="TextBox 4"/>
          <p:cNvSpPr txBox="1"/>
          <p:nvPr/>
        </p:nvSpPr>
        <p:spPr>
          <a:xfrm>
            <a:off x="768096" y="3657600"/>
            <a:ext cx="6126480" cy="868680"/>
          </a:xfrm>
          <a:prstGeom prst="rect">
            <a:avLst/>
          </a:prstGeom>
          <a:noFill/>
        </p:spPr>
        <p:txBody>
          <a:bodyPr wrap="square" lIns="0" tIns="0" rIns="0" bIns="0" anchor="t">
            <a:spAutoFit/>
          </a:bodyPr>
          <a:lstStyle/>
          <a:p>
            <a:pPr algn="l">
              <a:spcBef>
                <a:spcPts val="0"/>
              </a:spcBef>
              <a:spcAft>
                <a:spcPts val="0"/>
              </a:spcAft>
              <a:defRPr sz="2200" b="0" i="0">
                <a:solidFill>
                  <a:srgbClr val="DDE3F2"/>
                </a:solidFill>
                <a:latin typeface="DejaVu Sans"/>
              </a:defRPr>
            </a:pPr>
            <a:r>
              <a:t>Let’s make something people</a:t>
            </a:r>
          </a:p>
          <a:p>
            <a:pPr algn="l">
              <a:spcBef>
                <a:spcPts val="0"/>
              </a:spcBef>
              <a:spcAft>
                <a:spcPts val="0"/>
              </a:spcAft>
              <a:defRPr sz="2200" b="0" i="0">
                <a:solidFill>
                  <a:srgbClr val="DDE3F2"/>
                </a:solidFill>
                <a:latin typeface="DejaVu Sans"/>
              </a:defRPr>
            </a:pPr>
            <a:r>
              <a:t>want to join, remember and share.</a:t>
            </a:r>
          </a:p>
        </p:txBody>
      </p:sp>
      <p:pic>
        <p:nvPicPr>
          <p:cNvPr id="6" name="Picture 5" descr="flow_gradient.jpg"/>
          <p:cNvPicPr>
            <a:picLocks noChangeAspect="1"/>
          </p:cNvPicPr>
          <p:nvPr/>
        </p:nvPicPr>
        <p:blipFill>
          <a:blip r:embed="rId2"/>
          <a:stretch>
            <a:fillRect/>
          </a:stretch>
        </p:blipFill>
        <p:spPr>
          <a:xfrm>
            <a:off x="768096" y="4882896"/>
            <a:ext cx="4663440" cy="164592"/>
          </a:xfrm>
          <a:prstGeom prst="rect">
            <a:avLst/>
          </a:prstGeom>
        </p:spPr>
      </p:pic>
      <p:sp>
        <p:nvSpPr>
          <p:cNvPr id="7" name="TextBox 6"/>
          <p:cNvSpPr txBox="1"/>
          <p:nvPr/>
        </p:nvSpPr>
        <p:spPr>
          <a:xfrm>
            <a:off x="768096" y="5321808"/>
            <a:ext cx="5120640" cy="347472"/>
          </a:xfrm>
          <a:prstGeom prst="rect">
            <a:avLst/>
          </a:prstGeom>
          <a:noFill/>
        </p:spPr>
        <p:txBody>
          <a:bodyPr wrap="square" lIns="0" tIns="0" rIns="0" bIns="0" anchor="t">
            <a:spAutoFit/>
          </a:bodyPr>
          <a:lstStyle/>
          <a:p>
            <a:pPr algn="l">
              <a:spcBef>
                <a:spcPts val="0"/>
              </a:spcBef>
              <a:spcAft>
                <a:spcPts val="0"/>
              </a:spcAft>
              <a:defRPr sz="1500" b="1" i="0">
                <a:solidFill>
                  <a:srgbClr val="FF92BA"/>
                </a:solidFill>
                <a:latin typeface="DejaVu Sans"/>
              </a:defRPr>
            </a:pPr>
            <a:r>
              <a:t>LET’S WORK TOGETHER.</a:t>
            </a:r>
          </a:p>
        </p:txBody>
      </p:sp>
      <p:sp>
        <p:nvSpPr>
          <p:cNvPr id="8" name="TextBox 7"/>
          <p:cNvSpPr txBox="1"/>
          <p:nvPr/>
        </p:nvSpPr>
        <p:spPr>
          <a:xfrm>
            <a:off x="768096" y="5751576"/>
            <a:ext cx="5486400" cy="274320"/>
          </a:xfrm>
          <a:prstGeom prst="rect">
            <a:avLst/>
          </a:prstGeom>
          <a:noFill/>
        </p:spPr>
        <p:txBody>
          <a:bodyPr wrap="square" lIns="0" tIns="0" rIns="0" bIns="0" anchor="t">
            <a:spAutoFit/>
          </a:bodyPr>
          <a:lstStyle/>
          <a:p>
            <a:pPr algn="l">
              <a:spcBef>
                <a:spcPts val="0"/>
              </a:spcBef>
              <a:spcAft>
                <a:spcPts val="0"/>
              </a:spcAft>
              <a:defRPr sz="1100" b="0" i="0">
                <a:solidFill>
                  <a:srgbClr val="FFFFFF"/>
                </a:solidFill>
                <a:latin typeface="DejaVu Sans"/>
              </a:defRPr>
            </a:pPr>
            <a:r>
              <a:t>Yagazie Benjamin  /  Brand &amp; Content Strategist</a:t>
            </a:r>
          </a:p>
        </p:txBody>
      </p:sp>
      <p:sp>
        <p:nvSpPr>
          <p:cNvPr id="9" name="Rounded Rectangle 8"/>
          <p:cNvSpPr/>
          <p:nvPr/>
        </p:nvSpPr>
        <p:spPr>
          <a:xfrm>
            <a:off x="9272016" y="1911096"/>
            <a:ext cx="1618488"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work_target.png"/>
          <p:cNvPicPr>
            <a:picLocks noChangeAspect="1"/>
          </p:cNvPicPr>
          <p:nvPr/>
        </p:nvPicPr>
        <p:blipFill>
          <a:blip r:embed="rId3"/>
          <a:stretch>
            <a:fillRect/>
          </a:stretch>
        </p:blipFill>
        <p:spPr>
          <a:xfrm>
            <a:off x="9372600" y="2011680"/>
            <a:ext cx="1417320" cy="1417320"/>
          </a:xfrm>
          <a:prstGeom prst="rect">
            <a:avLst/>
          </a:prstGeom>
        </p:spPr>
      </p:pic>
      <p:sp>
        <p:nvSpPr>
          <p:cNvPr id="11" name="TextBox 10"/>
          <p:cNvSpPr txBox="1"/>
          <p:nvPr/>
        </p:nvSpPr>
        <p:spPr>
          <a:xfrm>
            <a:off x="8375904" y="3895344"/>
            <a:ext cx="3291840" cy="777240"/>
          </a:xfrm>
          <a:prstGeom prst="rect">
            <a:avLst/>
          </a:prstGeom>
          <a:noFill/>
        </p:spPr>
        <p:txBody>
          <a:bodyPr wrap="square" lIns="0" tIns="0" rIns="0" bIns="0" anchor="t">
            <a:spAutoFit/>
          </a:bodyPr>
          <a:lstStyle/>
          <a:p>
            <a:pPr algn="ctr">
              <a:spcBef>
                <a:spcPts val="0"/>
              </a:spcBef>
              <a:spcAft>
                <a:spcPts val="0"/>
              </a:spcAft>
              <a:defRPr sz="1600" b="1" i="0">
                <a:solidFill>
                  <a:srgbClr val="FFFFFF"/>
                </a:solidFill>
                <a:latin typeface="DejaVu Sans"/>
              </a:defRPr>
            </a:pPr>
            <a:r>
              <a:t>A good idea should</a:t>
            </a:r>
          </a:p>
          <a:p>
            <a:pPr algn="ctr">
              <a:spcBef>
                <a:spcPts val="0"/>
              </a:spcBef>
              <a:spcAft>
                <a:spcPts val="0"/>
              </a:spcAft>
              <a:defRPr sz="1600" b="1" i="0">
                <a:solidFill>
                  <a:srgbClr val="FFFFFF"/>
                </a:solidFill>
                <a:latin typeface="DejaVu Sans"/>
              </a:defRPr>
            </a:pPr>
            <a:r>
              <a:t>feel like it belongs.</a:t>
            </a:r>
          </a:p>
        </p:txBody>
      </p:sp>
      <p:cxnSp>
        <p:nvCxnSpPr>
          <p:cNvPr id="12" name="Connector 11"/>
          <p:cNvCxnSpPr/>
          <p:nvPr/>
        </p:nvCxnSpPr>
        <p:spPr>
          <a:xfrm>
            <a:off x="566928" y="6473952"/>
            <a:ext cx="11064240" cy="0"/>
          </a:xfrm>
          <a:prstGeom prst="line">
            <a:avLst/>
          </a:prstGeom>
          <a:ln w="8890">
            <a:solidFill>
              <a:srgbClr val="343B5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6519672"/>
            <a:ext cx="4572000" cy="164592"/>
          </a:xfrm>
          <a:prstGeom prst="rect">
            <a:avLst/>
          </a:prstGeom>
          <a:noFill/>
        </p:spPr>
        <p:txBody>
          <a:bodyPr wrap="square" lIns="0" tIns="0" rIns="0" bIns="0" anchor="ctr">
            <a:spAutoFit/>
          </a:bodyPr>
          <a:lstStyle/>
          <a:p>
            <a:pPr algn="l">
              <a:spcBef>
                <a:spcPts val="0"/>
              </a:spcBef>
              <a:spcAft>
                <a:spcPts val="0"/>
              </a:spcAft>
              <a:defRPr sz="800" b="1" i="0">
                <a:solidFill>
                  <a:srgbClr val="D6D9E5"/>
                </a:solidFill>
                <a:latin typeface="DejaVu Sans"/>
              </a:defRPr>
            </a:pPr>
            <a:r>
              <a:t>YAGAZIE BENJAMIN  /  BRAND &amp; CONTENT STRATEGY</a:t>
            </a:r>
          </a:p>
        </p:txBody>
      </p:sp>
      <p:sp>
        <p:nvSpPr>
          <p:cNvPr id="14" name="TextBox 13"/>
          <p:cNvSpPr txBox="1"/>
          <p:nvPr/>
        </p:nvSpPr>
        <p:spPr>
          <a:xfrm>
            <a:off x="8503920" y="6519672"/>
            <a:ext cx="214884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CLOSE</a:t>
            </a:r>
          </a:p>
        </p:txBody>
      </p:sp>
      <p:sp>
        <p:nvSpPr>
          <p:cNvPr id="15" name="TextBox 14"/>
          <p:cNvSpPr txBox="1"/>
          <p:nvPr/>
        </p:nvSpPr>
        <p:spPr>
          <a:xfrm>
            <a:off x="10927080" y="6519672"/>
            <a:ext cx="685800" cy="164592"/>
          </a:xfrm>
          <a:prstGeom prst="rect">
            <a:avLst/>
          </a:prstGeom>
          <a:noFill/>
        </p:spPr>
        <p:txBody>
          <a:bodyPr wrap="square" lIns="0" tIns="0" rIns="0" bIns="0" anchor="ctr">
            <a:spAutoFit/>
          </a:bodyPr>
          <a:lstStyle/>
          <a:p>
            <a:pPr algn="r">
              <a:spcBef>
                <a:spcPts val="0"/>
              </a:spcBef>
              <a:spcAft>
                <a:spcPts val="0"/>
              </a:spcAft>
              <a:defRPr sz="800" b="1" i="0">
                <a:solidFill>
                  <a:srgbClr val="D6D9E5"/>
                </a:solidFill>
                <a:latin typeface="DejaVu Sans"/>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1940</Words>
  <Application>Microsoft Office PowerPoint</Application>
  <PresentationFormat>Widescreen</PresentationFormat>
  <Paragraphs>288</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Destiny Ayodele</cp:lastModifiedBy>
  <cp:revision>2</cp:revision>
  <dcterms:created xsi:type="dcterms:W3CDTF">2013-01-27T09:14:16Z</dcterms:created>
  <dcterms:modified xsi:type="dcterms:W3CDTF">2026-10-14T19:13:48Z</dcterms:modified>
  <cp:category/>
</cp:coreProperties>
</file>